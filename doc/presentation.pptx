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6"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1EA77-D524-483E-81C5-936F3A9D6AAA}" type="datetimeFigureOut">
              <a:rPr lang="fr-FR" smtClean="0"/>
              <a:t>03/04/2026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C54DBB-8F04-458F-9B48-970AC67461DB}" type="slidenum">
              <a:rPr lang="fr-FR" smtClean="0"/>
              <a:t>‹N°›</a:t>
            </a:fld>
            <a:endParaRPr lang="fr-FR"/>
          </a:p>
        </p:txBody>
      </p:sp>
    </p:spTree>
    <p:extLst>
      <p:ext uri="{BB962C8B-B14F-4D97-AF65-F5344CB8AC3E}">
        <p14:creationId xmlns:p14="http://schemas.microsoft.com/office/powerpoint/2010/main" val="744455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7C54DBB-8F04-458F-9B48-970AC67461DB}" type="slidenum">
              <a:rPr lang="fr-FR" smtClean="0"/>
              <a:t>6</a:t>
            </a:fld>
            <a:endParaRPr lang="fr-FR"/>
          </a:p>
        </p:txBody>
      </p:sp>
    </p:spTree>
    <p:extLst>
      <p:ext uri="{BB962C8B-B14F-4D97-AF65-F5344CB8AC3E}">
        <p14:creationId xmlns:p14="http://schemas.microsoft.com/office/powerpoint/2010/main" val="1984124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2286000" y="914400"/>
            <a:ext cx="7589520" cy="50292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0" y="1965960"/>
            <a:ext cx="1357884" cy="292608"/>
          </a:xfrm>
          <a:prstGeom prst="rect">
            <a:avLst/>
          </a:prstGeom>
          <a:solidFill>
            <a:srgbClr val="0C2A3A"/>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13632" y="2002536"/>
            <a:ext cx="1211580" cy="237744"/>
          </a:xfrm>
          <a:prstGeom prst="rect">
            <a:avLst/>
          </a:prstGeom>
          <a:noFill/>
        </p:spPr>
        <p:txBody>
          <a:bodyPr wrap="square">
            <a:spAutoFit/>
          </a:bodyPr>
          <a:lstStyle/>
          <a:p>
            <a:pPr algn="ctr"/>
            <a:r>
              <a:rPr sz="900" b="1" i="0">
                <a:solidFill>
                  <a:srgbClr val="38BDF8"/>
                </a:solidFill>
              </a:rPr>
              <a:t>Big Data – B2</a:t>
            </a:r>
          </a:p>
        </p:txBody>
      </p:sp>
      <p:sp>
        <p:nvSpPr>
          <p:cNvPr id="6" name="Rectangle 5"/>
          <p:cNvSpPr/>
          <p:nvPr/>
        </p:nvSpPr>
        <p:spPr>
          <a:xfrm>
            <a:off x="5289804" y="1965960"/>
            <a:ext cx="1097280" cy="292608"/>
          </a:xfrm>
          <a:prstGeom prst="rect">
            <a:avLst/>
          </a:prstGeom>
          <a:solidFill>
            <a:srgbClr val="0A2A18"/>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62956" y="2002536"/>
            <a:ext cx="950976" cy="237744"/>
          </a:xfrm>
          <a:prstGeom prst="rect">
            <a:avLst/>
          </a:prstGeom>
          <a:noFill/>
        </p:spPr>
        <p:txBody>
          <a:bodyPr wrap="square">
            <a:spAutoFit/>
          </a:bodyPr>
          <a:lstStyle/>
          <a:p>
            <a:pPr algn="ctr"/>
            <a:r>
              <a:rPr sz="900" b="1" i="0">
                <a:solidFill>
                  <a:srgbClr val="22C55E"/>
                </a:solidFill>
              </a:rPr>
              <a:t>Avril 2026</a:t>
            </a:r>
          </a:p>
        </p:txBody>
      </p:sp>
      <p:sp>
        <p:nvSpPr>
          <p:cNvPr id="8" name="TextBox 7"/>
          <p:cNvSpPr txBox="1"/>
          <p:nvPr/>
        </p:nvSpPr>
        <p:spPr>
          <a:xfrm>
            <a:off x="2468880" y="2423160"/>
            <a:ext cx="7223760" cy="1005840"/>
          </a:xfrm>
          <a:prstGeom prst="rect">
            <a:avLst/>
          </a:prstGeom>
          <a:noFill/>
        </p:spPr>
        <p:txBody>
          <a:bodyPr wrap="square">
            <a:spAutoFit/>
          </a:bodyPr>
          <a:lstStyle/>
          <a:p>
            <a:pPr algn="ctr"/>
            <a:r>
              <a:rPr sz="3800" b="1" i="0">
                <a:solidFill>
                  <a:srgbClr val="F8FAFC"/>
                </a:solidFill>
              </a:rPr>
              <a:t>Vélos STAR &amp; Météo Rennes</a:t>
            </a:r>
          </a:p>
        </p:txBody>
      </p:sp>
      <p:sp>
        <p:nvSpPr>
          <p:cNvPr id="9" name="Rectangle 8"/>
          <p:cNvSpPr/>
          <p:nvPr/>
        </p:nvSpPr>
        <p:spPr>
          <a:xfrm>
            <a:off x="5577840" y="3493008"/>
            <a:ext cx="55321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31052" y="3493008"/>
            <a:ext cx="45262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3611880"/>
            <a:ext cx="7223760" cy="822960"/>
          </a:xfrm>
          <a:prstGeom prst="rect">
            <a:avLst/>
          </a:prstGeom>
          <a:noFill/>
        </p:spPr>
        <p:txBody>
          <a:bodyPr wrap="square">
            <a:spAutoFit/>
          </a:bodyPr>
          <a:lstStyle/>
          <a:p>
            <a:pPr algn="ctr"/>
            <a:r>
              <a:rPr sz="1400" b="0" i="0">
                <a:solidFill>
                  <a:srgbClr val="94A3B8"/>
                </a:solidFill>
              </a:rPr>
              <a:t>Pipeline de données complet : collecte API &amp; scraping,
traitement PySpark, stockage PostgreSQL et dashboard Streamlit.</a:t>
            </a:r>
          </a:p>
        </p:txBody>
      </p:sp>
      <p:sp>
        <p:nvSpPr>
          <p:cNvPr id="12" name="TextBox 11"/>
          <p:cNvSpPr txBox="1"/>
          <p:nvPr/>
        </p:nvSpPr>
        <p:spPr>
          <a:xfrm>
            <a:off x="2468880" y="5029200"/>
            <a:ext cx="7223760" cy="261610"/>
          </a:xfrm>
          <a:prstGeom prst="rect">
            <a:avLst/>
          </a:prstGeom>
          <a:noFill/>
        </p:spPr>
        <p:txBody>
          <a:bodyPr wrap="square">
            <a:spAutoFit/>
          </a:bodyPr>
          <a:lstStyle/>
          <a:p>
            <a:pPr algn="ctr"/>
            <a:r>
              <a:rPr sz="1100" b="0" i="0" dirty="0">
                <a:solidFill>
                  <a:srgbClr val="94A3B8"/>
                </a:solidFill>
              </a:rPr>
              <a:t>Antoine </a:t>
            </a:r>
            <a:r>
              <a:rPr lang="fr-FR" sz="1100" dirty="0">
                <a:solidFill>
                  <a:srgbClr val="94A3B8"/>
                </a:solidFill>
              </a:rPr>
              <a:t>S et Antoine L</a:t>
            </a:r>
            <a:r>
              <a:rPr sz="1100" b="0" i="0" dirty="0">
                <a:solidFill>
                  <a:srgbClr val="94A3B8"/>
                </a:solidFill>
              </a:rPr>
              <a:t> ·  </a:t>
            </a:r>
            <a:r>
              <a:rPr sz="1100" b="0" i="0" dirty="0" err="1">
                <a:solidFill>
                  <a:srgbClr val="94A3B8"/>
                </a:solidFill>
              </a:rPr>
              <a:t>Projet</a:t>
            </a:r>
            <a:r>
              <a:rPr sz="1100" b="0" i="0" dirty="0">
                <a:solidFill>
                  <a:srgbClr val="94A3B8"/>
                </a:solidFill>
              </a:rPr>
              <a:t> Big Data</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5486400" cy="274320"/>
          </a:xfrm>
          <a:prstGeom prst="rect">
            <a:avLst/>
          </a:prstGeom>
          <a:noFill/>
        </p:spPr>
        <p:txBody>
          <a:bodyPr wrap="square">
            <a:spAutoFit/>
          </a:bodyPr>
          <a:lstStyle/>
          <a:p>
            <a:pPr algn="l"/>
            <a:r>
              <a:rPr sz="900" b="1" i="0">
                <a:solidFill>
                  <a:srgbClr val="94A3B8"/>
                </a:solidFill>
              </a:rPr>
              <a:t>PLAN</a:t>
            </a:r>
          </a:p>
        </p:txBody>
      </p:sp>
      <p:sp>
        <p:nvSpPr>
          <p:cNvPr id="3" name="TextBox 2"/>
          <p:cNvSpPr txBox="1"/>
          <p:nvPr/>
        </p:nvSpPr>
        <p:spPr>
          <a:xfrm>
            <a:off x="457200" y="594360"/>
            <a:ext cx="7315200" cy="640080"/>
          </a:xfrm>
          <a:prstGeom prst="rect">
            <a:avLst/>
          </a:prstGeom>
          <a:noFill/>
        </p:spPr>
        <p:txBody>
          <a:bodyPr wrap="square">
            <a:spAutoFit/>
          </a:bodyPr>
          <a:lstStyle/>
          <a:p>
            <a:pPr algn="l"/>
            <a:r>
              <a:rPr sz="3000" b="1" i="0">
                <a:solidFill>
                  <a:srgbClr val="F8FAFC"/>
                </a:solidFill>
              </a:rPr>
              <a:t>Sommaire</a:t>
            </a:r>
          </a:p>
        </p:txBody>
      </p:sp>
      <p:sp>
        <p:nvSpPr>
          <p:cNvPr id="4" name="Rectangle 3"/>
          <p:cNvSpPr/>
          <p:nvPr/>
        </p:nvSpPr>
        <p:spPr>
          <a:xfrm>
            <a:off x="457200" y="129844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9844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63040"/>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640080" cy="411480"/>
          </a:xfrm>
          <a:prstGeom prst="rect">
            <a:avLst/>
          </a:prstGeom>
          <a:noFill/>
        </p:spPr>
        <p:txBody>
          <a:bodyPr wrap="square">
            <a:spAutoFit/>
          </a:bodyPr>
          <a:lstStyle/>
          <a:p>
            <a:pPr algn="l"/>
            <a:r>
              <a:rPr sz="1600" b="1" i="0">
                <a:solidFill>
                  <a:srgbClr val="38BDF8"/>
                </a:solidFill>
              </a:rPr>
              <a:t>01</a:t>
            </a:r>
          </a:p>
        </p:txBody>
      </p:sp>
      <p:sp>
        <p:nvSpPr>
          <p:cNvPr id="8" name="TextBox 7"/>
          <p:cNvSpPr txBox="1"/>
          <p:nvPr/>
        </p:nvSpPr>
        <p:spPr>
          <a:xfrm>
            <a:off x="1325880" y="1536192"/>
            <a:ext cx="5486400" cy="274320"/>
          </a:xfrm>
          <a:prstGeom prst="rect">
            <a:avLst/>
          </a:prstGeom>
          <a:noFill/>
        </p:spPr>
        <p:txBody>
          <a:bodyPr wrap="square">
            <a:spAutoFit/>
          </a:bodyPr>
          <a:lstStyle/>
          <a:p>
            <a:pPr algn="l"/>
            <a:r>
              <a:rPr sz="1300" b="1" i="0">
                <a:solidFill>
                  <a:srgbClr val="F8FAFC"/>
                </a:solidFill>
              </a:rPr>
              <a:t>Introduction &amp; Contexte</a:t>
            </a:r>
          </a:p>
        </p:txBody>
      </p:sp>
      <p:sp>
        <p:nvSpPr>
          <p:cNvPr id="9" name="TextBox 8"/>
          <p:cNvSpPr txBox="1"/>
          <p:nvPr/>
        </p:nvSpPr>
        <p:spPr>
          <a:xfrm>
            <a:off x="1325880" y="1773936"/>
            <a:ext cx="7315200" cy="228600"/>
          </a:xfrm>
          <a:prstGeom prst="rect">
            <a:avLst/>
          </a:prstGeom>
          <a:noFill/>
        </p:spPr>
        <p:txBody>
          <a:bodyPr wrap="square">
            <a:spAutoFit/>
          </a:bodyPr>
          <a:lstStyle/>
          <a:p>
            <a:pPr algn="l"/>
            <a:r>
              <a:rPr sz="1000" b="0" i="0">
                <a:solidFill>
                  <a:srgbClr val="94A3B8"/>
                </a:solidFill>
              </a:rPr>
              <a:t>Présentation du projet et objectifs</a:t>
            </a:r>
          </a:p>
        </p:txBody>
      </p:sp>
      <p:sp>
        <p:nvSpPr>
          <p:cNvPr id="10" name="Rectangle 9"/>
          <p:cNvSpPr/>
          <p:nvPr/>
        </p:nvSpPr>
        <p:spPr>
          <a:xfrm>
            <a:off x="457200" y="2112264"/>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203704"/>
            <a:ext cx="640080" cy="411480"/>
          </a:xfrm>
          <a:prstGeom prst="rect">
            <a:avLst/>
          </a:prstGeom>
          <a:noFill/>
        </p:spPr>
        <p:txBody>
          <a:bodyPr wrap="square">
            <a:spAutoFit/>
          </a:bodyPr>
          <a:lstStyle/>
          <a:p>
            <a:pPr algn="l"/>
            <a:r>
              <a:rPr sz="1600" b="1" i="0">
                <a:solidFill>
                  <a:srgbClr val="38BDF8"/>
                </a:solidFill>
              </a:rPr>
              <a:t>02</a:t>
            </a:r>
          </a:p>
        </p:txBody>
      </p:sp>
      <p:sp>
        <p:nvSpPr>
          <p:cNvPr id="12" name="TextBox 11"/>
          <p:cNvSpPr txBox="1"/>
          <p:nvPr/>
        </p:nvSpPr>
        <p:spPr>
          <a:xfrm>
            <a:off x="1325880" y="2185416"/>
            <a:ext cx="5486400" cy="274320"/>
          </a:xfrm>
          <a:prstGeom prst="rect">
            <a:avLst/>
          </a:prstGeom>
          <a:noFill/>
        </p:spPr>
        <p:txBody>
          <a:bodyPr wrap="square">
            <a:spAutoFit/>
          </a:bodyPr>
          <a:lstStyle/>
          <a:p>
            <a:pPr algn="l"/>
            <a:r>
              <a:rPr sz="1300" b="1" i="0">
                <a:solidFill>
                  <a:srgbClr val="F8FAFC"/>
                </a:solidFill>
              </a:rPr>
              <a:t>Besoin Métier</a:t>
            </a:r>
          </a:p>
        </p:txBody>
      </p:sp>
      <p:sp>
        <p:nvSpPr>
          <p:cNvPr id="13" name="TextBox 12"/>
          <p:cNvSpPr txBox="1"/>
          <p:nvPr/>
        </p:nvSpPr>
        <p:spPr>
          <a:xfrm>
            <a:off x="1325880" y="2423160"/>
            <a:ext cx="7315200" cy="228600"/>
          </a:xfrm>
          <a:prstGeom prst="rect">
            <a:avLst/>
          </a:prstGeom>
          <a:noFill/>
        </p:spPr>
        <p:txBody>
          <a:bodyPr wrap="square">
            <a:spAutoFit/>
          </a:bodyPr>
          <a:lstStyle/>
          <a:p>
            <a:pPr algn="l"/>
            <a:r>
              <a:rPr sz="1000" b="0" i="0">
                <a:solidFill>
                  <a:srgbClr val="94A3B8"/>
                </a:solidFill>
              </a:rPr>
              <a:t>Problématique et cas d'usage</a:t>
            </a:r>
          </a:p>
        </p:txBody>
      </p:sp>
      <p:sp>
        <p:nvSpPr>
          <p:cNvPr id="14" name="Rectangle 13"/>
          <p:cNvSpPr/>
          <p:nvPr/>
        </p:nvSpPr>
        <p:spPr>
          <a:xfrm>
            <a:off x="457200" y="2761488"/>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852928"/>
            <a:ext cx="640080" cy="411480"/>
          </a:xfrm>
          <a:prstGeom prst="rect">
            <a:avLst/>
          </a:prstGeom>
          <a:noFill/>
        </p:spPr>
        <p:txBody>
          <a:bodyPr wrap="square">
            <a:spAutoFit/>
          </a:bodyPr>
          <a:lstStyle/>
          <a:p>
            <a:pPr algn="l"/>
            <a:r>
              <a:rPr sz="1600" b="1" i="0">
                <a:solidFill>
                  <a:srgbClr val="38BDF8"/>
                </a:solidFill>
              </a:rPr>
              <a:t>03</a:t>
            </a:r>
          </a:p>
        </p:txBody>
      </p:sp>
      <p:sp>
        <p:nvSpPr>
          <p:cNvPr id="16" name="TextBox 15"/>
          <p:cNvSpPr txBox="1"/>
          <p:nvPr/>
        </p:nvSpPr>
        <p:spPr>
          <a:xfrm>
            <a:off x="1325880" y="2834640"/>
            <a:ext cx="5486400" cy="274320"/>
          </a:xfrm>
          <a:prstGeom prst="rect">
            <a:avLst/>
          </a:prstGeom>
          <a:noFill/>
        </p:spPr>
        <p:txBody>
          <a:bodyPr wrap="square">
            <a:spAutoFit/>
          </a:bodyPr>
          <a:lstStyle/>
          <a:p>
            <a:pPr algn="l"/>
            <a:r>
              <a:rPr sz="1300" b="1" i="0">
                <a:solidFill>
                  <a:srgbClr val="F8FAFC"/>
                </a:solidFill>
              </a:rPr>
              <a:t>Architecture &amp; Pipeline</a:t>
            </a:r>
          </a:p>
        </p:txBody>
      </p:sp>
      <p:sp>
        <p:nvSpPr>
          <p:cNvPr id="17" name="TextBox 16"/>
          <p:cNvSpPr txBox="1"/>
          <p:nvPr/>
        </p:nvSpPr>
        <p:spPr>
          <a:xfrm>
            <a:off x="1325880" y="3072384"/>
            <a:ext cx="7315200" cy="228600"/>
          </a:xfrm>
          <a:prstGeom prst="rect">
            <a:avLst/>
          </a:prstGeom>
          <a:noFill/>
        </p:spPr>
        <p:txBody>
          <a:bodyPr wrap="square">
            <a:spAutoFit/>
          </a:bodyPr>
          <a:lstStyle/>
          <a:p>
            <a:pPr algn="l"/>
            <a:r>
              <a:rPr sz="1000" b="0" i="0">
                <a:solidFill>
                  <a:srgbClr val="94A3B8"/>
                </a:solidFill>
              </a:rPr>
              <a:t>Les 6 étapes du traitement de données</a:t>
            </a:r>
          </a:p>
        </p:txBody>
      </p:sp>
      <p:sp>
        <p:nvSpPr>
          <p:cNvPr id="18" name="Rectangle 17"/>
          <p:cNvSpPr/>
          <p:nvPr/>
        </p:nvSpPr>
        <p:spPr>
          <a:xfrm>
            <a:off x="457200" y="3410712"/>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3502152"/>
            <a:ext cx="640080" cy="411480"/>
          </a:xfrm>
          <a:prstGeom prst="rect">
            <a:avLst/>
          </a:prstGeom>
          <a:noFill/>
        </p:spPr>
        <p:txBody>
          <a:bodyPr wrap="square">
            <a:spAutoFit/>
          </a:bodyPr>
          <a:lstStyle/>
          <a:p>
            <a:pPr algn="l"/>
            <a:r>
              <a:rPr sz="1600" b="1" i="0">
                <a:solidFill>
                  <a:srgbClr val="38BDF8"/>
                </a:solidFill>
              </a:rPr>
              <a:t>04</a:t>
            </a:r>
          </a:p>
        </p:txBody>
      </p:sp>
      <p:sp>
        <p:nvSpPr>
          <p:cNvPr id="20" name="TextBox 19"/>
          <p:cNvSpPr txBox="1"/>
          <p:nvPr/>
        </p:nvSpPr>
        <p:spPr>
          <a:xfrm>
            <a:off x="1325880" y="3483864"/>
            <a:ext cx="5486400" cy="274320"/>
          </a:xfrm>
          <a:prstGeom prst="rect">
            <a:avLst/>
          </a:prstGeom>
          <a:noFill/>
        </p:spPr>
        <p:txBody>
          <a:bodyPr wrap="square">
            <a:spAutoFit/>
          </a:bodyPr>
          <a:lstStyle/>
          <a:p>
            <a:pPr algn="l"/>
            <a:r>
              <a:rPr sz="1300" b="1" i="0">
                <a:solidFill>
                  <a:srgbClr val="F8FAFC"/>
                </a:solidFill>
              </a:rPr>
              <a:t>Choix des Sources de Données</a:t>
            </a:r>
          </a:p>
        </p:txBody>
      </p:sp>
      <p:sp>
        <p:nvSpPr>
          <p:cNvPr id="21" name="TextBox 20"/>
          <p:cNvSpPr txBox="1"/>
          <p:nvPr/>
        </p:nvSpPr>
        <p:spPr>
          <a:xfrm>
            <a:off x="1325880" y="3721608"/>
            <a:ext cx="7315200" cy="228600"/>
          </a:xfrm>
          <a:prstGeom prst="rect">
            <a:avLst/>
          </a:prstGeom>
          <a:noFill/>
        </p:spPr>
        <p:txBody>
          <a:bodyPr wrap="square">
            <a:spAutoFit/>
          </a:bodyPr>
          <a:lstStyle/>
          <a:p>
            <a:pPr algn="l"/>
            <a:r>
              <a:rPr sz="1000" b="0" i="0">
                <a:solidFill>
                  <a:srgbClr val="94A3B8"/>
                </a:solidFill>
              </a:rPr>
              <a:t>Pourquoi l'API STAR et le scraping météo</a:t>
            </a:r>
          </a:p>
        </p:txBody>
      </p:sp>
      <p:sp>
        <p:nvSpPr>
          <p:cNvPr id="22" name="Rectangle 21"/>
          <p:cNvSpPr/>
          <p:nvPr/>
        </p:nvSpPr>
        <p:spPr>
          <a:xfrm>
            <a:off x="457200" y="4059935"/>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151375"/>
            <a:ext cx="640080" cy="411480"/>
          </a:xfrm>
          <a:prstGeom prst="rect">
            <a:avLst/>
          </a:prstGeom>
          <a:noFill/>
        </p:spPr>
        <p:txBody>
          <a:bodyPr wrap="square">
            <a:spAutoFit/>
          </a:bodyPr>
          <a:lstStyle/>
          <a:p>
            <a:pPr algn="l"/>
            <a:r>
              <a:rPr sz="1600" b="1" i="0">
                <a:solidFill>
                  <a:srgbClr val="38BDF8"/>
                </a:solidFill>
              </a:rPr>
              <a:t>05</a:t>
            </a:r>
          </a:p>
        </p:txBody>
      </p:sp>
      <p:sp>
        <p:nvSpPr>
          <p:cNvPr id="24" name="TextBox 23"/>
          <p:cNvSpPr txBox="1"/>
          <p:nvPr/>
        </p:nvSpPr>
        <p:spPr>
          <a:xfrm>
            <a:off x="1325880" y="4133087"/>
            <a:ext cx="5486400" cy="274320"/>
          </a:xfrm>
          <a:prstGeom prst="rect">
            <a:avLst/>
          </a:prstGeom>
          <a:noFill/>
        </p:spPr>
        <p:txBody>
          <a:bodyPr wrap="square">
            <a:spAutoFit/>
          </a:bodyPr>
          <a:lstStyle/>
          <a:p>
            <a:pPr algn="l"/>
            <a:r>
              <a:rPr sz="1300" b="1" i="0">
                <a:solidFill>
                  <a:srgbClr val="F8FAFC"/>
                </a:solidFill>
              </a:rPr>
              <a:t>Stack Technique</a:t>
            </a:r>
          </a:p>
        </p:txBody>
      </p:sp>
      <p:sp>
        <p:nvSpPr>
          <p:cNvPr id="25" name="TextBox 24"/>
          <p:cNvSpPr txBox="1"/>
          <p:nvPr/>
        </p:nvSpPr>
        <p:spPr>
          <a:xfrm>
            <a:off x="1325880" y="4370831"/>
            <a:ext cx="7315200" cy="228600"/>
          </a:xfrm>
          <a:prstGeom prst="rect">
            <a:avLst/>
          </a:prstGeom>
          <a:noFill/>
        </p:spPr>
        <p:txBody>
          <a:bodyPr wrap="square">
            <a:spAutoFit/>
          </a:bodyPr>
          <a:lstStyle/>
          <a:p>
            <a:pPr algn="l"/>
            <a:r>
              <a:rPr sz="1000" b="0" i="0">
                <a:solidFill>
                  <a:srgbClr val="94A3B8"/>
                </a:solidFill>
              </a:rPr>
              <a:t>Technologies utilisées et justification</a:t>
            </a:r>
          </a:p>
        </p:txBody>
      </p:sp>
      <p:sp>
        <p:nvSpPr>
          <p:cNvPr id="26" name="Rectangle 25"/>
          <p:cNvSpPr/>
          <p:nvPr/>
        </p:nvSpPr>
        <p:spPr>
          <a:xfrm>
            <a:off x="457200" y="4709160"/>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800600"/>
            <a:ext cx="640080" cy="411480"/>
          </a:xfrm>
          <a:prstGeom prst="rect">
            <a:avLst/>
          </a:prstGeom>
          <a:noFill/>
        </p:spPr>
        <p:txBody>
          <a:bodyPr wrap="square">
            <a:spAutoFit/>
          </a:bodyPr>
          <a:lstStyle/>
          <a:p>
            <a:pPr algn="l"/>
            <a:r>
              <a:rPr sz="1600" b="1" i="0">
                <a:solidFill>
                  <a:srgbClr val="38BDF8"/>
                </a:solidFill>
              </a:rPr>
              <a:t>06</a:t>
            </a:r>
          </a:p>
        </p:txBody>
      </p:sp>
      <p:sp>
        <p:nvSpPr>
          <p:cNvPr id="28" name="TextBox 27"/>
          <p:cNvSpPr txBox="1"/>
          <p:nvPr/>
        </p:nvSpPr>
        <p:spPr>
          <a:xfrm>
            <a:off x="1325880" y="4782312"/>
            <a:ext cx="5486400" cy="274320"/>
          </a:xfrm>
          <a:prstGeom prst="rect">
            <a:avLst/>
          </a:prstGeom>
          <a:noFill/>
        </p:spPr>
        <p:txBody>
          <a:bodyPr wrap="square">
            <a:spAutoFit/>
          </a:bodyPr>
          <a:lstStyle/>
          <a:p>
            <a:pPr algn="l"/>
            <a:r>
              <a:rPr sz="1300" b="1" i="0">
                <a:solidFill>
                  <a:srgbClr val="F8FAFC"/>
                </a:solidFill>
              </a:rPr>
              <a:t>Le Dashboard – Résultats</a:t>
            </a:r>
          </a:p>
        </p:txBody>
      </p:sp>
      <p:sp>
        <p:nvSpPr>
          <p:cNvPr id="29" name="TextBox 28"/>
          <p:cNvSpPr txBox="1"/>
          <p:nvPr/>
        </p:nvSpPr>
        <p:spPr>
          <a:xfrm>
            <a:off x="1325880" y="5020056"/>
            <a:ext cx="7315200" cy="228600"/>
          </a:xfrm>
          <a:prstGeom prst="rect">
            <a:avLst/>
          </a:prstGeom>
          <a:noFill/>
        </p:spPr>
        <p:txBody>
          <a:bodyPr wrap="square">
            <a:spAutoFit/>
          </a:bodyPr>
          <a:lstStyle/>
          <a:p>
            <a:pPr algn="l"/>
            <a:r>
              <a:rPr sz="1000" b="0" i="0">
                <a:solidFill>
                  <a:srgbClr val="94A3B8"/>
                </a:solidFill>
              </a:rPr>
              <a:t>Visualisations et KPIs produits</a:t>
            </a:r>
          </a:p>
        </p:txBody>
      </p:sp>
      <p:sp>
        <p:nvSpPr>
          <p:cNvPr id="30" name="Rectangle 29"/>
          <p:cNvSpPr/>
          <p:nvPr/>
        </p:nvSpPr>
        <p:spPr>
          <a:xfrm>
            <a:off x="457200" y="5358383"/>
            <a:ext cx="11247120" cy="566928"/>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5449823"/>
            <a:ext cx="640080" cy="411480"/>
          </a:xfrm>
          <a:prstGeom prst="rect">
            <a:avLst/>
          </a:prstGeom>
          <a:noFill/>
        </p:spPr>
        <p:txBody>
          <a:bodyPr wrap="square">
            <a:spAutoFit/>
          </a:bodyPr>
          <a:lstStyle/>
          <a:p>
            <a:pPr algn="l"/>
            <a:r>
              <a:rPr sz="1600" b="1" i="0">
                <a:solidFill>
                  <a:srgbClr val="38BDF8"/>
                </a:solidFill>
              </a:rPr>
              <a:t>07</a:t>
            </a:r>
          </a:p>
        </p:txBody>
      </p:sp>
      <p:sp>
        <p:nvSpPr>
          <p:cNvPr id="32" name="TextBox 31"/>
          <p:cNvSpPr txBox="1"/>
          <p:nvPr/>
        </p:nvSpPr>
        <p:spPr>
          <a:xfrm>
            <a:off x="1325880" y="5431536"/>
            <a:ext cx="5486400" cy="274320"/>
          </a:xfrm>
          <a:prstGeom prst="rect">
            <a:avLst/>
          </a:prstGeom>
          <a:noFill/>
        </p:spPr>
        <p:txBody>
          <a:bodyPr wrap="square">
            <a:spAutoFit/>
          </a:bodyPr>
          <a:lstStyle/>
          <a:p>
            <a:pPr algn="l"/>
            <a:r>
              <a:rPr sz="1300" b="1" i="0">
                <a:solidFill>
                  <a:srgbClr val="F8FAFC"/>
                </a:solidFill>
              </a:rPr>
              <a:t>Conclusion &amp; Perspectives</a:t>
            </a:r>
          </a:p>
        </p:txBody>
      </p:sp>
      <p:sp>
        <p:nvSpPr>
          <p:cNvPr id="33" name="TextBox 32"/>
          <p:cNvSpPr txBox="1"/>
          <p:nvPr/>
        </p:nvSpPr>
        <p:spPr>
          <a:xfrm>
            <a:off x="1325880" y="5669279"/>
            <a:ext cx="7315200" cy="228600"/>
          </a:xfrm>
          <a:prstGeom prst="rect">
            <a:avLst/>
          </a:prstGeom>
          <a:noFill/>
        </p:spPr>
        <p:txBody>
          <a:bodyPr wrap="square">
            <a:spAutoFit/>
          </a:bodyPr>
          <a:lstStyle/>
          <a:p>
            <a:pPr algn="l"/>
            <a:r>
              <a:rPr sz="1000" b="0" i="0">
                <a:solidFill>
                  <a:srgbClr val="94A3B8"/>
                </a:solidFill>
              </a:rPr>
              <a:t>Bilan et axes d'amélioration</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01 · INTRODUCTION</a:t>
            </a:r>
          </a:p>
        </p:txBody>
      </p:sp>
      <p:sp>
        <p:nvSpPr>
          <p:cNvPr id="3" name="TextBox 2"/>
          <p:cNvSpPr txBox="1"/>
          <p:nvPr/>
        </p:nvSpPr>
        <p:spPr>
          <a:xfrm>
            <a:off x="457200" y="548640"/>
            <a:ext cx="9144000" cy="594360"/>
          </a:xfrm>
          <a:prstGeom prst="rect">
            <a:avLst/>
          </a:prstGeom>
          <a:noFill/>
        </p:spPr>
        <p:txBody>
          <a:bodyPr wrap="square">
            <a:spAutoFit/>
          </a:bodyPr>
          <a:lstStyle/>
          <a:p>
            <a:pPr algn="l"/>
            <a:r>
              <a:rPr sz="2800" b="1" i="0">
                <a:solidFill>
                  <a:srgbClr val="F8FAFC"/>
                </a:solidFill>
              </a:rPr>
              <a:t>Contexte du projet</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577840" cy="242316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08760"/>
            <a:ext cx="5303520" cy="307777"/>
          </a:xfrm>
          <a:prstGeom prst="rect">
            <a:avLst/>
          </a:prstGeom>
          <a:noFill/>
        </p:spPr>
        <p:txBody>
          <a:bodyPr wrap="square">
            <a:spAutoFit/>
          </a:bodyPr>
          <a:lstStyle/>
          <a:p>
            <a:pPr algn="l"/>
            <a:r>
              <a:rPr sz="1400" b="1" i="0" dirty="0">
                <a:solidFill>
                  <a:srgbClr val="F8FAFC"/>
                </a:solidFill>
              </a:rPr>
              <a:t> Le réseau </a:t>
            </a:r>
            <a:r>
              <a:rPr sz="1400" b="1" i="0" dirty="0" err="1">
                <a:solidFill>
                  <a:srgbClr val="F8FAFC"/>
                </a:solidFill>
              </a:rPr>
              <a:t>Vélos</a:t>
            </a:r>
            <a:r>
              <a:rPr sz="1400" b="1" i="0" dirty="0">
                <a:solidFill>
                  <a:srgbClr val="F8FAFC"/>
                </a:solidFill>
              </a:rPr>
              <a:t> STAR</a:t>
            </a:r>
          </a:p>
        </p:txBody>
      </p:sp>
      <p:sp>
        <p:nvSpPr>
          <p:cNvPr id="8" name="TextBox 7"/>
          <p:cNvSpPr txBox="1"/>
          <p:nvPr/>
        </p:nvSpPr>
        <p:spPr>
          <a:xfrm>
            <a:off x="594360" y="1920240"/>
            <a:ext cx="5303520" cy="1005840"/>
          </a:xfrm>
          <a:prstGeom prst="rect">
            <a:avLst/>
          </a:prstGeom>
          <a:noFill/>
        </p:spPr>
        <p:txBody>
          <a:bodyPr wrap="square">
            <a:spAutoFit/>
          </a:bodyPr>
          <a:lstStyle/>
          <a:p>
            <a:pPr algn="l"/>
            <a:r>
              <a:rPr sz="1100" b="0" i="0">
                <a:solidFill>
                  <a:srgbClr val="94A3B8"/>
                </a:solidFill>
              </a:rPr>
              <a:t>Le réseau Star gère les transports en commun de Rennes Métropole, dont un service de vélos en libre-service (VLS) avec plusieurs dizaines de stations réparties dans la ville. Les données sont exposées en temps réel via une API Open Data officielle.</a:t>
            </a:r>
          </a:p>
        </p:txBody>
      </p:sp>
      <p:sp>
        <p:nvSpPr>
          <p:cNvPr id="9" name="Rectangle 8"/>
          <p:cNvSpPr/>
          <p:nvPr/>
        </p:nvSpPr>
        <p:spPr>
          <a:xfrm>
            <a:off x="594360" y="3291840"/>
            <a:ext cx="1792224" cy="292608"/>
          </a:xfrm>
          <a:prstGeom prst="rect">
            <a:avLst/>
          </a:prstGeom>
          <a:solidFill>
            <a:srgbClr val="0C2A3A"/>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 y="3328416"/>
            <a:ext cx="1645920" cy="237744"/>
          </a:xfrm>
          <a:prstGeom prst="rect">
            <a:avLst/>
          </a:prstGeom>
          <a:noFill/>
        </p:spPr>
        <p:txBody>
          <a:bodyPr wrap="square">
            <a:spAutoFit/>
          </a:bodyPr>
          <a:lstStyle/>
          <a:p>
            <a:pPr algn="ctr"/>
            <a:r>
              <a:rPr sz="900" b="1" i="0">
                <a:solidFill>
                  <a:srgbClr val="38BDF8"/>
                </a:solidFill>
              </a:rPr>
              <a:t>Données temps réel</a:t>
            </a:r>
          </a:p>
        </p:txBody>
      </p:sp>
      <p:sp>
        <p:nvSpPr>
          <p:cNvPr id="11" name="Rectangle 10"/>
          <p:cNvSpPr/>
          <p:nvPr/>
        </p:nvSpPr>
        <p:spPr>
          <a:xfrm>
            <a:off x="6263640" y="1417320"/>
            <a:ext cx="5486400" cy="242316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91656" y="1508760"/>
            <a:ext cx="5212080" cy="307777"/>
          </a:xfrm>
          <a:prstGeom prst="rect">
            <a:avLst/>
          </a:prstGeom>
          <a:noFill/>
        </p:spPr>
        <p:txBody>
          <a:bodyPr wrap="square">
            <a:spAutoFit/>
          </a:bodyPr>
          <a:lstStyle/>
          <a:p>
            <a:pPr algn="l"/>
            <a:r>
              <a:rPr sz="1400" b="1" i="0" dirty="0">
                <a:solidFill>
                  <a:srgbClr val="F8FAFC"/>
                </a:solidFill>
              </a:rPr>
              <a:t>  Objectif </a:t>
            </a:r>
            <a:r>
              <a:rPr sz="1400" b="1" i="0" dirty="0" err="1">
                <a:solidFill>
                  <a:srgbClr val="F8FAFC"/>
                </a:solidFill>
              </a:rPr>
              <a:t>pédagogique</a:t>
            </a:r>
            <a:endParaRPr sz="1400" b="1" i="0" dirty="0">
              <a:solidFill>
                <a:srgbClr val="F8FAFC"/>
              </a:solidFill>
            </a:endParaRPr>
          </a:p>
        </p:txBody>
      </p:sp>
      <p:sp>
        <p:nvSpPr>
          <p:cNvPr id="13" name="TextBox 12"/>
          <p:cNvSpPr txBox="1"/>
          <p:nvPr/>
        </p:nvSpPr>
        <p:spPr>
          <a:xfrm>
            <a:off x="6391656" y="1920240"/>
            <a:ext cx="5212080" cy="914400"/>
          </a:xfrm>
          <a:prstGeom prst="rect">
            <a:avLst/>
          </a:prstGeom>
          <a:noFill/>
        </p:spPr>
        <p:txBody>
          <a:bodyPr wrap="square">
            <a:spAutoFit/>
          </a:bodyPr>
          <a:lstStyle/>
          <a:p>
            <a:pPr algn="l"/>
            <a:r>
              <a:rPr sz="1100" b="0" i="0">
                <a:solidFill>
                  <a:srgbClr val="94A3B8"/>
                </a:solidFill>
              </a:rPr>
              <a:t>Construire un pipeline Big Data de bout en bout : ingestion, transformation, stockage et visualisation — avec des outils industriels (Spark, PostgreSQL, Streamlit).</a:t>
            </a:r>
          </a:p>
        </p:txBody>
      </p:sp>
      <p:sp>
        <p:nvSpPr>
          <p:cNvPr id="14" name="Rectangle 13"/>
          <p:cNvSpPr/>
          <p:nvPr/>
        </p:nvSpPr>
        <p:spPr>
          <a:xfrm>
            <a:off x="6391656" y="3291840"/>
            <a:ext cx="1010412" cy="292608"/>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8" y="3328416"/>
            <a:ext cx="864108" cy="237744"/>
          </a:xfrm>
          <a:prstGeom prst="rect">
            <a:avLst/>
          </a:prstGeom>
          <a:noFill/>
        </p:spPr>
        <p:txBody>
          <a:bodyPr wrap="square">
            <a:spAutoFit/>
          </a:bodyPr>
          <a:lstStyle/>
          <a:p>
            <a:pPr algn="ctr"/>
            <a:r>
              <a:rPr sz="900" b="1" i="0">
                <a:solidFill>
                  <a:srgbClr val="38BDF8"/>
                </a:solidFill>
              </a:rPr>
              <a:t>Ingestion</a:t>
            </a:r>
          </a:p>
        </p:txBody>
      </p:sp>
      <p:sp>
        <p:nvSpPr>
          <p:cNvPr id="16" name="Rectangle 15"/>
          <p:cNvSpPr/>
          <p:nvPr/>
        </p:nvSpPr>
        <p:spPr>
          <a:xfrm>
            <a:off x="7493508" y="3291840"/>
            <a:ext cx="1097280" cy="292608"/>
          </a:xfrm>
          <a:prstGeom prst="rect">
            <a:avLst/>
          </a:prstGeom>
          <a:solidFill>
            <a:srgbClr val="1E293B"/>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66660" y="3328416"/>
            <a:ext cx="950976" cy="237744"/>
          </a:xfrm>
          <a:prstGeom prst="rect">
            <a:avLst/>
          </a:prstGeom>
          <a:noFill/>
        </p:spPr>
        <p:txBody>
          <a:bodyPr wrap="square">
            <a:spAutoFit/>
          </a:bodyPr>
          <a:lstStyle/>
          <a:p>
            <a:pPr algn="ctr"/>
            <a:r>
              <a:rPr sz="900" b="1" i="0">
                <a:solidFill>
                  <a:srgbClr val="22C55E"/>
                </a:solidFill>
              </a:rPr>
              <a:t>Traitement</a:t>
            </a:r>
          </a:p>
        </p:txBody>
      </p:sp>
      <p:sp>
        <p:nvSpPr>
          <p:cNvPr id="18" name="Rectangle 17"/>
          <p:cNvSpPr/>
          <p:nvPr/>
        </p:nvSpPr>
        <p:spPr>
          <a:xfrm>
            <a:off x="8682228" y="3291840"/>
            <a:ext cx="1005840" cy="292608"/>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55380" y="3328416"/>
            <a:ext cx="859536" cy="237744"/>
          </a:xfrm>
          <a:prstGeom prst="rect">
            <a:avLst/>
          </a:prstGeom>
          <a:noFill/>
        </p:spPr>
        <p:txBody>
          <a:bodyPr wrap="square">
            <a:spAutoFit/>
          </a:bodyPr>
          <a:lstStyle/>
          <a:p>
            <a:pPr algn="ctr"/>
            <a:r>
              <a:rPr sz="900" b="1" i="0">
                <a:solidFill>
                  <a:srgbClr val="F59E0B"/>
                </a:solidFill>
              </a:rPr>
              <a:t>Stockage</a:t>
            </a:r>
          </a:p>
        </p:txBody>
      </p:sp>
      <p:sp>
        <p:nvSpPr>
          <p:cNvPr id="20" name="Rectangle 19"/>
          <p:cNvSpPr/>
          <p:nvPr/>
        </p:nvSpPr>
        <p:spPr>
          <a:xfrm>
            <a:off x="9779508" y="3291840"/>
            <a:ext cx="1357884" cy="292608"/>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52660" y="3328416"/>
            <a:ext cx="1211580" cy="237744"/>
          </a:xfrm>
          <a:prstGeom prst="rect">
            <a:avLst/>
          </a:prstGeom>
          <a:noFill/>
        </p:spPr>
        <p:txBody>
          <a:bodyPr wrap="square">
            <a:spAutoFit/>
          </a:bodyPr>
          <a:lstStyle/>
          <a:p>
            <a:pPr algn="ctr"/>
            <a:r>
              <a:rPr sz="900" b="1" i="0">
                <a:solidFill>
                  <a:srgbClr val="A78BFA"/>
                </a:solidFill>
              </a:rPr>
              <a:t>Visualisation</a:t>
            </a:r>
          </a:p>
        </p:txBody>
      </p:sp>
      <p:sp>
        <p:nvSpPr>
          <p:cNvPr id="22" name="Rectangle 21"/>
          <p:cNvSpPr/>
          <p:nvPr/>
        </p:nvSpPr>
        <p:spPr>
          <a:xfrm>
            <a:off x="457200" y="4023360"/>
            <a:ext cx="11292840" cy="118872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160520"/>
            <a:ext cx="10881360" cy="731520"/>
          </a:xfrm>
          <a:prstGeom prst="rect">
            <a:avLst/>
          </a:prstGeom>
          <a:noFill/>
        </p:spPr>
        <p:txBody>
          <a:bodyPr wrap="square">
            <a:spAutoFit/>
          </a:bodyPr>
          <a:lstStyle/>
          <a:p>
            <a:pPr algn="l"/>
            <a:r>
              <a:rPr sz="1200" b="0" i="0">
                <a:solidFill>
                  <a:srgbClr val="94A3B8"/>
                </a:solidFill>
              </a:rPr>
              <a:t>Ce projet combine deux sources hétérogènes — une API REST officielle et un scraping web — pour produire un dataset enrichi permettant d'analyser l'usage des stations de vélos en fonction des conditions météorologiques à Rennes.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02 · BESOIN MÉTIER</a:t>
            </a:r>
          </a:p>
        </p:txBody>
      </p:sp>
      <p:sp>
        <p:nvSpPr>
          <p:cNvPr id="3" name="TextBox 2"/>
          <p:cNvSpPr txBox="1"/>
          <p:nvPr/>
        </p:nvSpPr>
        <p:spPr>
          <a:xfrm>
            <a:off x="457200" y="548640"/>
            <a:ext cx="10972800" cy="594360"/>
          </a:xfrm>
          <a:prstGeom prst="rect">
            <a:avLst/>
          </a:prstGeom>
          <a:noFill/>
        </p:spPr>
        <p:txBody>
          <a:bodyPr wrap="square">
            <a:spAutoFit/>
          </a:bodyPr>
          <a:lstStyle/>
          <a:p>
            <a:pPr algn="l"/>
            <a:r>
              <a:rPr sz="2800" b="1" i="0">
                <a:solidFill>
                  <a:srgbClr val="F8FAFC"/>
                </a:solidFill>
              </a:rPr>
              <a:t>Quelle problématique résoudre ?</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394960" cy="29260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08760"/>
            <a:ext cx="5120640" cy="292388"/>
          </a:xfrm>
          <a:prstGeom prst="rect">
            <a:avLst/>
          </a:prstGeom>
          <a:noFill/>
        </p:spPr>
        <p:txBody>
          <a:bodyPr wrap="square">
            <a:spAutoFit/>
          </a:bodyPr>
          <a:lstStyle/>
          <a:p>
            <a:pPr algn="l"/>
            <a:r>
              <a:rPr sz="1300" b="1" i="0" dirty="0">
                <a:solidFill>
                  <a:srgbClr val="F8FAFC"/>
                </a:solidFill>
              </a:rPr>
              <a:t>  Questions </a:t>
            </a:r>
            <a:r>
              <a:rPr sz="1300" b="1" i="0" dirty="0" err="1">
                <a:solidFill>
                  <a:srgbClr val="F8FAFC"/>
                </a:solidFill>
              </a:rPr>
              <a:t>opérationnelles</a:t>
            </a:r>
            <a:endParaRPr sz="1300" b="1" i="0" dirty="0">
              <a:solidFill>
                <a:srgbClr val="F8FAFC"/>
              </a:solidFill>
            </a:endParaRPr>
          </a:p>
        </p:txBody>
      </p:sp>
      <p:sp>
        <p:nvSpPr>
          <p:cNvPr id="8" name="TextBox 7"/>
          <p:cNvSpPr txBox="1"/>
          <p:nvPr/>
        </p:nvSpPr>
        <p:spPr>
          <a:xfrm>
            <a:off x="640080" y="1965960"/>
            <a:ext cx="274320" cy="320040"/>
          </a:xfrm>
          <a:prstGeom prst="rect">
            <a:avLst/>
          </a:prstGeom>
          <a:noFill/>
        </p:spPr>
        <p:txBody>
          <a:bodyPr wrap="square">
            <a:spAutoFit/>
          </a:bodyPr>
          <a:lstStyle/>
          <a:p>
            <a:pPr algn="l"/>
            <a:r>
              <a:rPr sz="1200" b="1" i="0">
                <a:solidFill>
                  <a:srgbClr val="38BDF8"/>
                </a:solidFill>
              </a:rPr>
              <a:t>▸</a:t>
            </a:r>
          </a:p>
        </p:txBody>
      </p:sp>
      <p:sp>
        <p:nvSpPr>
          <p:cNvPr id="9" name="TextBox 8"/>
          <p:cNvSpPr txBox="1"/>
          <p:nvPr/>
        </p:nvSpPr>
        <p:spPr>
          <a:xfrm>
            <a:off x="914400" y="1965960"/>
            <a:ext cx="4754880" cy="320040"/>
          </a:xfrm>
          <a:prstGeom prst="rect">
            <a:avLst/>
          </a:prstGeom>
          <a:noFill/>
        </p:spPr>
        <p:txBody>
          <a:bodyPr wrap="square">
            <a:spAutoFit/>
          </a:bodyPr>
          <a:lstStyle/>
          <a:p>
            <a:pPr algn="l"/>
            <a:r>
              <a:rPr sz="1100" b="0" i="0">
                <a:solidFill>
                  <a:srgbClr val="94A3B8"/>
                </a:solidFill>
              </a:rPr>
              <a:t>Quelles stations sont les plus sollicitées à un instant T ?</a:t>
            </a:r>
          </a:p>
        </p:txBody>
      </p:sp>
      <p:sp>
        <p:nvSpPr>
          <p:cNvPr id="10" name="TextBox 9"/>
          <p:cNvSpPr txBox="1"/>
          <p:nvPr/>
        </p:nvSpPr>
        <p:spPr>
          <a:xfrm>
            <a:off x="640080" y="2468880"/>
            <a:ext cx="274320" cy="320040"/>
          </a:xfrm>
          <a:prstGeom prst="rect">
            <a:avLst/>
          </a:prstGeom>
          <a:noFill/>
        </p:spPr>
        <p:txBody>
          <a:bodyPr wrap="square">
            <a:spAutoFit/>
          </a:bodyPr>
          <a:lstStyle/>
          <a:p>
            <a:pPr algn="l"/>
            <a:r>
              <a:rPr sz="1200" b="1" i="0">
                <a:solidFill>
                  <a:srgbClr val="22C55E"/>
                </a:solidFill>
              </a:rPr>
              <a:t>▸</a:t>
            </a:r>
          </a:p>
        </p:txBody>
      </p:sp>
      <p:sp>
        <p:nvSpPr>
          <p:cNvPr id="11" name="TextBox 10"/>
          <p:cNvSpPr txBox="1"/>
          <p:nvPr/>
        </p:nvSpPr>
        <p:spPr>
          <a:xfrm>
            <a:off x="914400" y="2468880"/>
            <a:ext cx="4754880" cy="320040"/>
          </a:xfrm>
          <a:prstGeom prst="rect">
            <a:avLst/>
          </a:prstGeom>
          <a:noFill/>
        </p:spPr>
        <p:txBody>
          <a:bodyPr wrap="square">
            <a:spAutoFit/>
          </a:bodyPr>
          <a:lstStyle/>
          <a:p>
            <a:pPr algn="l"/>
            <a:r>
              <a:rPr sz="1100" b="0" i="0">
                <a:solidFill>
                  <a:srgbClr val="94A3B8"/>
                </a:solidFill>
              </a:rPr>
              <a:t>La météo influence-t-elle l'utilisation des vélos ?</a:t>
            </a:r>
          </a:p>
        </p:txBody>
      </p:sp>
      <p:sp>
        <p:nvSpPr>
          <p:cNvPr id="12" name="TextBox 11"/>
          <p:cNvSpPr txBox="1"/>
          <p:nvPr/>
        </p:nvSpPr>
        <p:spPr>
          <a:xfrm>
            <a:off x="640080" y="2971800"/>
            <a:ext cx="274320" cy="320040"/>
          </a:xfrm>
          <a:prstGeom prst="rect">
            <a:avLst/>
          </a:prstGeom>
          <a:noFill/>
        </p:spPr>
        <p:txBody>
          <a:bodyPr wrap="square">
            <a:spAutoFit/>
          </a:bodyPr>
          <a:lstStyle/>
          <a:p>
            <a:pPr algn="l"/>
            <a:r>
              <a:rPr sz="1200" b="1" i="0">
                <a:solidFill>
                  <a:srgbClr val="F59E0B"/>
                </a:solidFill>
              </a:rPr>
              <a:t>▸</a:t>
            </a:r>
          </a:p>
        </p:txBody>
      </p:sp>
      <p:sp>
        <p:nvSpPr>
          <p:cNvPr id="13" name="TextBox 12"/>
          <p:cNvSpPr txBox="1"/>
          <p:nvPr/>
        </p:nvSpPr>
        <p:spPr>
          <a:xfrm>
            <a:off x="914400" y="2971800"/>
            <a:ext cx="4754880" cy="320040"/>
          </a:xfrm>
          <a:prstGeom prst="rect">
            <a:avLst/>
          </a:prstGeom>
          <a:noFill/>
        </p:spPr>
        <p:txBody>
          <a:bodyPr wrap="square">
            <a:spAutoFit/>
          </a:bodyPr>
          <a:lstStyle/>
          <a:p>
            <a:pPr algn="l"/>
            <a:r>
              <a:rPr sz="1100" b="0" i="0">
                <a:solidFill>
                  <a:srgbClr val="94A3B8"/>
                </a:solidFill>
              </a:rPr>
              <a:t>Quelle est la disponibilité réelle des bornes de recharge ?</a:t>
            </a:r>
          </a:p>
        </p:txBody>
      </p:sp>
      <p:sp>
        <p:nvSpPr>
          <p:cNvPr id="14" name="TextBox 13"/>
          <p:cNvSpPr txBox="1"/>
          <p:nvPr/>
        </p:nvSpPr>
        <p:spPr>
          <a:xfrm>
            <a:off x="640080" y="3474720"/>
            <a:ext cx="274320" cy="320040"/>
          </a:xfrm>
          <a:prstGeom prst="rect">
            <a:avLst/>
          </a:prstGeom>
          <a:noFill/>
        </p:spPr>
        <p:txBody>
          <a:bodyPr wrap="square">
            <a:spAutoFit/>
          </a:bodyPr>
          <a:lstStyle/>
          <a:p>
            <a:pPr algn="l"/>
            <a:r>
              <a:rPr sz="1200" b="1" i="0">
                <a:solidFill>
                  <a:srgbClr val="A78BFA"/>
                </a:solidFill>
              </a:rPr>
              <a:t>▸</a:t>
            </a:r>
          </a:p>
        </p:txBody>
      </p:sp>
      <p:sp>
        <p:nvSpPr>
          <p:cNvPr id="15" name="TextBox 14"/>
          <p:cNvSpPr txBox="1"/>
          <p:nvPr/>
        </p:nvSpPr>
        <p:spPr>
          <a:xfrm>
            <a:off x="914400" y="3474720"/>
            <a:ext cx="4754880" cy="320040"/>
          </a:xfrm>
          <a:prstGeom prst="rect">
            <a:avLst/>
          </a:prstGeom>
          <a:noFill/>
        </p:spPr>
        <p:txBody>
          <a:bodyPr wrap="square">
            <a:spAutoFit/>
          </a:bodyPr>
          <a:lstStyle/>
          <a:p>
            <a:pPr algn="l"/>
            <a:r>
              <a:rPr sz="1100" b="0" i="0">
                <a:solidFill>
                  <a:srgbClr val="94A3B8"/>
                </a:solidFill>
              </a:rPr>
              <a:t>Combien de stations sont hors service actuellement ?</a:t>
            </a:r>
          </a:p>
        </p:txBody>
      </p:sp>
      <p:sp>
        <p:nvSpPr>
          <p:cNvPr id="16" name="Rectangle 15"/>
          <p:cNvSpPr/>
          <p:nvPr/>
        </p:nvSpPr>
        <p:spPr>
          <a:xfrm>
            <a:off x="6035040" y="1417320"/>
            <a:ext cx="5715000" cy="29260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1508760"/>
            <a:ext cx="5394960" cy="292388"/>
          </a:xfrm>
          <a:prstGeom prst="rect">
            <a:avLst/>
          </a:prstGeom>
          <a:noFill/>
        </p:spPr>
        <p:txBody>
          <a:bodyPr wrap="square">
            <a:spAutoFit/>
          </a:bodyPr>
          <a:lstStyle/>
          <a:p>
            <a:pPr algn="l"/>
            <a:r>
              <a:rPr sz="1300" b="1" i="0" dirty="0">
                <a:solidFill>
                  <a:srgbClr val="F8FAFC"/>
                </a:solidFill>
              </a:rPr>
              <a:t>  </a:t>
            </a:r>
            <a:r>
              <a:rPr sz="1300" b="1" i="0" dirty="0" err="1">
                <a:solidFill>
                  <a:srgbClr val="F8FAFC"/>
                </a:solidFill>
              </a:rPr>
              <a:t>Utilisateurs</a:t>
            </a:r>
            <a:r>
              <a:rPr sz="1300" b="1" i="0" dirty="0">
                <a:solidFill>
                  <a:srgbClr val="F8FAFC"/>
                </a:solidFill>
              </a:rPr>
              <a:t> </a:t>
            </a:r>
            <a:r>
              <a:rPr sz="1300" b="1" i="0" dirty="0" err="1">
                <a:solidFill>
                  <a:srgbClr val="F8FAFC"/>
                </a:solidFill>
              </a:rPr>
              <a:t>cibles</a:t>
            </a:r>
            <a:endParaRPr sz="1300" b="1" i="0" dirty="0">
              <a:solidFill>
                <a:srgbClr val="F8FAFC"/>
              </a:solidFill>
            </a:endParaRPr>
          </a:p>
        </p:txBody>
      </p:sp>
      <p:sp>
        <p:nvSpPr>
          <p:cNvPr id="18" name="Rectangle 17"/>
          <p:cNvSpPr/>
          <p:nvPr/>
        </p:nvSpPr>
        <p:spPr>
          <a:xfrm>
            <a:off x="6172200" y="1965960"/>
            <a:ext cx="5440680" cy="6400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2011679"/>
            <a:ext cx="5120640" cy="274320"/>
          </a:xfrm>
          <a:prstGeom prst="rect">
            <a:avLst/>
          </a:prstGeom>
          <a:noFill/>
        </p:spPr>
        <p:txBody>
          <a:bodyPr wrap="square">
            <a:spAutoFit/>
          </a:bodyPr>
          <a:lstStyle/>
          <a:p>
            <a:pPr algn="l"/>
            <a:r>
              <a:rPr sz="1200" b="1" i="0">
                <a:solidFill>
                  <a:srgbClr val="38BDF8"/>
                </a:solidFill>
              </a:rPr>
              <a:t>Opérateurs STAR</a:t>
            </a:r>
          </a:p>
        </p:txBody>
      </p:sp>
      <p:sp>
        <p:nvSpPr>
          <p:cNvPr id="20" name="TextBox 19"/>
          <p:cNvSpPr txBox="1"/>
          <p:nvPr/>
        </p:nvSpPr>
        <p:spPr>
          <a:xfrm>
            <a:off x="6309360" y="2286000"/>
            <a:ext cx="5120640" cy="274320"/>
          </a:xfrm>
          <a:prstGeom prst="rect">
            <a:avLst/>
          </a:prstGeom>
          <a:noFill/>
        </p:spPr>
        <p:txBody>
          <a:bodyPr wrap="square">
            <a:spAutoFit/>
          </a:bodyPr>
          <a:lstStyle/>
          <a:p>
            <a:pPr algn="l"/>
            <a:r>
              <a:rPr sz="1000" b="0" i="0">
                <a:solidFill>
                  <a:srgbClr val="94A3B8"/>
                </a:solidFill>
              </a:rPr>
              <a:t>Optimiser la redistribution des vélos entre stations</a:t>
            </a:r>
          </a:p>
        </p:txBody>
      </p:sp>
      <p:sp>
        <p:nvSpPr>
          <p:cNvPr id="21" name="Rectangle 20"/>
          <p:cNvSpPr/>
          <p:nvPr/>
        </p:nvSpPr>
        <p:spPr>
          <a:xfrm>
            <a:off x="6172200" y="2715768"/>
            <a:ext cx="5440680" cy="6400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2761487"/>
            <a:ext cx="5120640" cy="274320"/>
          </a:xfrm>
          <a:prstGeom prst="rect">
            <a:avLst/>
          </a:prstGeom>
          <a:noFill/>
        </p:spPr>
        <p:txBody>
          <a:bodyPr wrap="square">
            <a:spAutoFit/>
          </a:bodyPr>
          <a:lstStyle/>
          <a:p>
            <a:pPr algn="l"/>
            <a:r>
              <a:rPr sz="1200" b="1" i="0">
                <a:solidFill>
                  <a:srgbClr val="22C55E"/>
                </a:solidFill>
              </a:rPr>
              <a:t>Urbanistes / collectivité</a:t>
            </a:r>
          </a:p>
        </p:txBody>
      </p:sp>
      <p:sp>
        <p:nvSpPr>
          <p:cNvPr id="23" name="TextBox 22"/>
          <p:cNvSpPr txBox="1"/>
          <p:nvPr/>
        </p:nvSpPr>
        <p:spPr>
          <a:xfrm>
            <a:off x="6309360" y="3035808"/>
            <a:ext cx="5120640" cy="274320"/>
          </a:xfrm>
          <a:prstGeom prst="rect">
            <a:avLst/>
          </a:prstGeom>
          <a:noFill/>
        </p:spPr>
        <p:txBody>
          <a:bodyPr wrap="square">
            <a:spAutoFit/>
          </a:bodyPr>
          <a:lstStyle/>
          <a:p>
            <a:pPr algn="l"/>
            <a:r>
              <a:rPr sz="1000" b="0" i="0">
                <a:solidFill>
                  <a:srgbClr val="94A3B8"/>
                </a:solidFill>
              </a:rPr>
              <a:t>Mesurer l'impact météo sur la mobilité douce</a:t>
            </a:r>
          </a:p>
        </p:txBody>
      </p:sp>
      <p:sp>
        <p:nvSpPr>
          <p:cNvPr id="24" name="Rectangle 23"/>
          <p:cNvSpPr/>
          <p:nvPr/>
        </p:nvSpPr>
        <p:spPr>
          <a:xfrm>
            <a:off x="6172200" y="3465576"/>
            <a:ext cx="5440680" cy="6400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3511296"/>
            <a:ext cx="5120640" cy="274320"/>
          </a:xfrm>
          <a:prstGeom prst="rect">
            <a:avLst/>
          </a:prstGeom>
          <a:noFill/>
        </p:spPr>
        <p:txBody>
          <a:bodyPr wrap="square">
            <a:spAutoFit/>
          </a:bodyPr>
          <a:lstStyle/>
          <a:p>
            <a:pPr algn="l"/>
            <a:r>
              <a:rPr sz="1200" b="1" i="0">
                <a:solidFill>
                  <a:srgbClr val="A78BFA"/>
                </a:solidFill>
              </a:rPr>
              <a:t>Usagers</a:t>
            </a:r>
          </a:p>
        </p:txBody>
      </p:sp>
      <p:sp>
        <p:nvSpPr>
          <p:cNvPr id="26" name="TextBox 25"/>
          <p:cNvSpPr txBox="1"/>
          <p:nvPr/>
        </p:nvSpPr>
        <p:spPr>
          <a:xfrm>
            <a:off x="6309360" y="3785615"/>
            <a:ext cx="5120640" cy="274320"/>
          </a:xfrm>
          <a:prstGeom prst="rect">
            <a:avLst/>
          </a:prstGeom>
          <a:noFill/>
        </p:spPr>
        <p:txBody>
          <a:bodyPr wrap="square">
            <a:spAutoFit/>
          </a:bodyPr>
          <a:lstStyle/>
          <a:p>
            <a:pPr algn="l"/>
            <a:r>
              <a:rPr sz="1000" b="0" i="0">
                <a:solidFill>
                  <a:srgbClr val="94A3B8"/>
                </a:solidFill>
              </a:rPr>
              <a:t>Voir en un coup d'œil la disponibilité réelle</a:t>
            </a:r>
          </a:p>
        </p:txBody>
      </p:sp>
      <p:sp>
        <p:nvSpPr>
          <p:cNvPr id="27" name="Rectangle 26"/>
          <p:cNvSpPr/>
          <p:nvPr/>
        </p:nvSpPr>
        <p:spPr>
          <a:xfrm>
            <a:off x="457200" y="4526280"/>
            <a:ext cx="11292840" cy="128016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617720"/>
            <a:ext cx="7772400" cy="457200"/>
          </a:xfrm>
          <a:prstGeom prst="rect">
            <a:avLst/>
          </a:prstGeom>
          <a:noFill/>
        </p:spPr>
        <p:txBody>
          <a:bodyPr wrap="square">
            <a:spAutoFit/>
          </a:bodyPr>
          <a:lstStyle/>
          <a:p>
            <a:pPr algn="l"/>
            <a:r>
              <a:rPr sz="1100" b="0" i="0">
                <a:solidFill>
                  <a:srgbClr val="94A3B8"/>
                </a:solidFill>
              </a:rPr>
              <a:t>Valeur ajoutée — croiser vélos + météo permet une analyse contextualisée de la mobilité urbaine.</a:t>
            </a:r>
          </a:p>
        </p:txBody>
      </p:sp>
      <p:sp>
        <p:nvSpPr>
          <p:cNvPr id="29" name="TextBox 28"/>
          <p:cNvSpPr txBox="1"/>
          <p:nvPr/>
        </p:nvSpPr>
        <p:spPr>
          <a:xfrm>
            <a:off x="8503920" y="4617720"/>
            <a:ext cx="1005840" cy="457200"/>
          </a:xfrm>
          <a:prstGeom prst="rect">
            <a:avLst/>
          </a:prstGeom>
          <a:noFill/>
        </p:spPr>
        <p:txBody>
          <a:bodyPr wrap="square">
            <a:spAutoFit/>
          </a:bodyPr>
          <a:lstStyle/>
          <a:p>
            <a:pPr algn="ctr"/>
            <a:r>
              <a:rPr sz="2200" b="1" i="0">
                <a:solidFill>
                  <a:srgbClr val="38BDF8"/>
                </a:solidFill>
              </a:rPr>
              <a:t>2</a:t>
            </a:r>
          </a:p>
        </p:txBody>
      </p:sp>
      <p:sp>
        <p:nvSpPr>
          <p:cNvPr id="30" name="TextBox 29"/>
          <p:cNvSpPr txBox="1"/>
          <p:nvPr/>
        </p:nvSpPr>
        <p:spPr>
          <a:xfrm>
            <a:off x="8503920" y="5074920"/>
            <a:ext cx="1005840" cy="320040"/>
          </a:xfrm>
          <a:prstGeom prst="rect">
            <a:avLst/>
          </a:prstGeom>
          <a:noFill/>
        </p:spPr>
        <p:txBody>
          <a:bodyPr wrap="square">
            <a:spAutoFit/>
          </a:bodyPr>
          <a:lstStyle/>
          <a:p>
            <a:pPr algn="ctr"/>
            <a:r>
              <a:rPr sz="800" b="0" i="0">
                <a:solidFill>
                  <a:srgbClr val="94A3B8"/>
                </a:solidFill>
              </a:rPr>
              <a:t>Sources de données</a:t>
            </a:r>
          </a:p>
        </p:txBody>
      </p:sp>
      <p:sp>
        <p:nvSpPr>
          <p:cNvPr id="31" name="TextBox 30"/>
          <p:cNvSpPr txBox="1"/>
          <p:nvPr/>
        </p:nvSpPr>
        <p:spPr>
          <a:xfrm>
            <a:off x="9646920" y="4617720"/>
            <a:ext cx="1005840" cy="457200"/>
          </a:xfrm>
          <a:prstGeom prst="rect">
            <a:avLst/>
          </a:prstGeom>
          <a:noFill/>
        </p:spPr>
        <p:txBody>
          <a:bodyPr wrap="square">
            <a:spAutoFit/>
          </a:bodyPr>
          <a:lstStyle/>
          <a:p>
            <a:pPr algn="ctr"/>
            <a:r>
              <a:rPr sz="2200" b="1" i="0">
                <a:solidFill>
                  <a:srgbClr val="22C55E"/>
                </a:solidFill>
              </a:rPr>
              <a:t>6</a:t>
            </a:r>
          </a:p>
        </p:txBody>
      </p:sp>
      <p:sp>
        <p:nvSpPr>
          <p:cNvPr id="32" name="TextBox 31"/>
          <p:cNvSpPr txBox="1"/>
          <p:nvPr/>
        </p:nvSpPr>
        <p:spPr>
          <a:xfrm>
            <a:off x="9646920" y="5074920"/>
            <a:ext cx="1005840" cy="320040"/>
          </a:xfrm>
          <a:prstGeom prst="rect">
            <a:avLst/>
          </a:prstGeom>
          <a:noFill/>
        </p:spPr>
        <p:txBody>
          <a:bodyPr wrap="square">
            <a:spAutoFit/>
          </a:bodyPr>
          <a:lstStyle/>
          <a:p>
            <a:pPr algn="ctr"/>
            <a:r>
              <a:rPr sz="800" b="0" i="0">
                <a:solidFill>
                  <a:srgbClr val="94A3B8"/>
                </a:solidFill>
              </a:rPr>
              <a:t>Étapes pipeline</a:t>
            </a:r>
          </a:p>
        </p:txBody>
      </p:sp>
      <p:sp>
        <p:nvSpPr>
          <p:cNvPr id="33" name="TextBox 32"/>
          <p:cNvSpPr txBox="1"/>
          <p:nvPr/>
        </p:nvSpPr>
        <p:spPr>
          <a:xfrm>
            <a:off x="10789920" y="4617720"/>
            <a:ext cx="1005840" cy="457200"/>
          </a:xfrm>
          <a:prstGeom prst="rect">
            <a:avLst/>
          </a:prstGeom>
          <a:noFill/>
        </p:spPr>
        <p:txBody>
          <a:bodyPr wrap="square">
            <a:spAutoFit/>
          </a:bodyPr>
          <a:lstStyle/>
          <a:p>
            <a:pPr algn="ctr"/>
            <a:r>
              <a:rPr sz="2200" b="1" i="0">
                <a:solidFill>
                  <a:srgbClr val="F59E0B"/>
                </a:solidFill>
              </a:rPr>
              <a:t>1</a:t>
            </a:r>
          </a:p>
        </p:txBody>
      </p:sp>
      <p:sp>
        <p:nvSpPr>
          <p:cNvPr id="34" name="TextBox 33"/>
          <p:cNvSpPr txBox="1"/>
          <p:nvPr/>
        </p:nvSpPr>
        <p:spPr>
          <a:xfrm>
            <a:off x="10789920" y="5074920"/>
            <a:ext cx="1005840" cy="320040"/>
          </a:xfrm>
          <a:prstGeom prst="rect">
            <a:avLst/>
          </a:prstGeom>
          <a:noFill/>
        </p:spPr>
        <p:txBody>
          <a:bodyPr wrap="square">
            <a:spAutoFit/>
          </a:bodyPr>
          <a:lstStyle/>
          <a:p>
            <a:pPr algn="ctr"/>
            <a:r>
              <a:rPr sz="800" b="0" i="0">
                <a:solidFill>
                  <a:srgbClr val="94A3B8"/>
                </a:solidFill>
              </a:rPr>
              <a:t>Dashboard live</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03 · ARCHITECTURE</a:t>
            </a:r>
          </a:p>
        </p:txBody>
      </p:sp>
      <p:sp>
        <p:nvSpPr>
          <p:cNvPr id="3" name="TextBox 2"/>
          <p:cNvSpPr txBox="1"/>
          <p:nvPr/>
        </p:nvSpPr>
        <p:spPr>
          <a:xfrm>
            <a:off x="457200" y="548640"/>
            <a:ext cx="10972800" cy="594360"/>
          </a:xfrm>
          <a:prstGeom prst="rect">
            <a:avLst/>
          </a:prstGeom>
          <a:noFill/>
        </p:spPr>
        <p:txBody>
          <a:bodyPr wrap="square">
            <a:spAutoFit/>
          </a:bodyPr>
          <a:lstStyle/>
          <a:p>
            <a:pPr algn="l"/>
            <a:r>
              <a:rPr sz="2800" b="1" i="0">
                <a:solidFill>
                  <a:srgbClr val="F8FAFC"/>
                </a:solidFill>
              </a:rPr>
              <a:t>Pipeline de données — 6 étapes</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3795"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5235" y="1490472"/>
            <a:ext cx="1463040" cy="276999"/>
          </a:xfrm>
          <a:prstGeom prst="rect">
            <a:avLst/>
          </a:prstGeom>
          <a:noFill/>
        </p:spPr>
        <p:txBody>
          <a:bodyPr wrap="square">
            <a:spAutoFit/>
          </a:bodyPr>
          <a:lstStyle/>
          <a:p>
            <a:pPr algn="l"/>
            <a:r>
              <a:rPr sz="1200" b="1" i="0" dirty="0">
                <a:solidFill>
                  <a:srgbClr val="38BDF8"/>
                </a:solidFill>
              </a:rPr>
              <a:t>  API STAR</a:t>
            </a:r>
          </a:p>
        </p:txBody>
      </p:sp>
      <p:sp>
        <p:nvSpPr>
          <p:cNvPr id="8" name="TextBox 7"/>
          <p:cNvSpPr txBox="1"/>
          <p:nvPr/>
        </p:nvSpPr>
        <p:spPr>
          <a:xfrm>
            <a:off x="745235" y="1828800"/>
            <a:ext cx="1463040" cy="256032"/>
          </a:xfrm>
          <a:prstGeom prst="rect">
            <a:avLst/>
          </a:prstGeom>
          <a:noFill/>
        </p:spPr>
        <p:txBody>
          <a:bodyPr wrap="square">
            <a:spAutoFit/>
          </a:bodyPr>
          <a:lstStyle/>
          <a:p>
            <a:pPr algn="l"/>
            <a:r>
              <a:rPr sz="850" b="0" i="0">
                <a:solidFill>
                  <a:srgbClr val="94A3B8"/>
                </a:solidFill>
              </a:rPr>
              <a:t>get_api.py</a:t>
            </a:r>
          </a:p>
        </p:txBody>
      </p:sp>
      <p:sp>
        <p:nvSpPr>
          <p:cNvPr id="9" name="TextBox 8"/>
          <p:cNvSpPr txBox="1"/>
          <p:nvPr/>
        </p:nvSpPr>
        <p:spPr>
          <a:xfrm>
            <a:off x="2318003" y="1719072"/>
            <a:ext cx="292608" cy="274320"/>
          </a:xfrm>
          <a:prstGeom prst="rect">
            <a:avLst/>
          </a:prstGeom>
          <a:noFill/>
        </p:spPr>
        <p:txBody>
          <a:bodyPr wrap="square">
            <a:spAutoFit/>
          </a:bodyPr>
          <a:lstStyle/>
          <a:p>
            <a:pPr algn="ctr"/>
            <a:r>
              <a:rPr sz="1400" b="0" i="0">
                <a:solidFill>
                  <a:srgbClr val="94A3B8"/>
                </a:solidFill>
              </a:rPr>
              <a:t>→</a:t>
            </a:r>
          </a:p>
        </p:txBody>
      </p:sp>
      <p:sp>
        <p:nvSpPr>
          <p:cNvPr id="10" name="Rectangle 9"/>
          <p:cNvSpPr/>
          <p:nvPr/>
        </p:nvSpPr>
        <p:spPr>
          <a:xfrm>
            <a:off x="2500884"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92324" y="1490472"/>
            <a:ext cx="1463040" cy="276999"/>
          </a:xfrm>
          <a:prstGeom prst="rect">
            <a:avLst/>
          </a:prstGeom>
          <a:noFill/>
        </p:spPr>
        <p:txBody>
          <a:bodyPr wrap="square">
            <a:spAutoFit/>
          </a:bodyPr>
          <a:lstStyle/>
          <a:p>
            <a:pPr algn="l"/>
            <a:r>
              <a:rPr sz="1200" b="1" i="0" dirty="0">
                <a:solidFill>
                  <a:srgbClr val="A78BFA"/>
                </a:solidFill>
              </a:rPr>
              <a:t>  Scraping </a:t>
            </a:r>
            <a:r>
              <a:rPr sz="1200" b="1" i="0" dirty="0" err="1">
                <a:solidFill>
                  <a:srgbClr val="A78BFA"/>
                </a:solidFill>
              </a:rPr>
              <a:t>météo</a:t>
            </a:r>
            <a:endParaRPr sz="1200" b="1" i="0" dirty="0">
              <a:solidFill>
                <a:srgbClr val="A78BFA"/>
              </a:solidFill>
            </a:endParaRPr>
          </a:p>
        </p:txBody>
      </p:sp>
      <p:sp>
        <p:nvSpPr>
          <p:cNvPr id="12" name="TextBox 11"/>
          <p:cNvSpPr txBox="1"/>
          <p:nvPr/>
        </p:nvSpPr>
        <p:spPr>
          <a:xfrm>
            <a:off x="2592324" y="1828800"/>
            <a:ext cx="1463040" cy="256032"/>
          </a:xfrm>
          <a:prstGeom prst="rect">
            <a:avLst/>
          </a:prstGeom>
          <a:noFill/>
        </p:spPr>
        <p:txBody>
          <a:bodyPr wrap="square">
            <a:spAutoFit/>
          </a:bodyPr>
          <a:lstStyle/>
          <a:p>
            <a:pPr algn="l"/>
            <a:r>
              <a:rPr sz="850" b="0" i="0">
                <a:solidFill>
                  <a:srgbClr val="94A3B8"/>
                </a:solidFill>
              </a:rPr>
              <a:t>scrape_weather.py</a:t>
            </a:r>
          </a:p>
        </p:txBody>
      </p:sp>
      <p:sp>
        <p:nvSpPr>
          <p:cNvPr id="13" name="TextBox 12"/>
          <p:cNvSpPr txBox="1"/>
          <p:nvPr/>
        </p:nvSpPr>
        <p:spPr>
          <a:xfrm>
            <a:off x="4165091" y="1719072"/>
            <a:ext cx="292608" cy="274320"/>
          </a:xfrm>
          <a:prstGeom prst="rect">
            <a:avLst/>
          </a:prstGeom>
          <a:noFill/>
        </p:spPr>
        <p:txBody>
          <a:bodyPr wrap="square">
            <a:spAutoFit/>
          </a:bodyPr>
          <a:lstStyle/>
          <a:p>
            <a:pPr algn="ctr"/>
            <a:r>
              <a:rPr sz="1400" b="0" i="0">
                <a:solidFill>
                  <a:srgbClr val="94A3B8"/>
                </a:solidFill>
              </a:rPr>
              <a:t>→</a:t>
            </a:r>
          </a:p>
        </p:txBody>
      </p:sp>
      <p:sp>
        <p:nvSpPr>
          <p:cNvPr id="14" name="Rectangle 13"/>
          <p:cNvSpPr/>
          <p:nvPr/>
        </p:nvSpPr>
        <p:spPr>
          <a:xfrm>
            <a:off x="4347972"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9412" y="1490472"/>
            <a:ext cx="1463040" cy="276999"/>
          </a:xfrm>
          <a:prstGeom prst="rect">
            <a:avLst/>
          </a:prstGeom>
          <a:noFill/>
        </p:spPr>
        <p:txBody>
          <a:bodyPr wrap="square">
            <a:spAutoFit/>
          </a:bodyPr>
          <a:lstStyle/>
          <a:p>
            <a:pPr algn="l"/>
            <a:r>
              <a:rPr sz="1200" b="1" i="0" dirty="0">
                <a:solidFill>
                  <a:srgbClr val="F59E0B"/>
                </a:solidFill>
              </a:rPr>
              <a:t>  EDA</a:t>
            </a:r>
          </a:p>
        </p:txBody>
      </p:sp>
      <p:sp>
        <p:nvSpPr>
          <p:cNvPr id="16" name="TextBox 15"/>
          <p:cNvSpPr txBox="1"/>
          <p:nvPr/>
        </p:nvSpPr>
        <p:spPr>
          <a:xfrm>
            <a:off x="4439412" y="1828800"/>
            <a:ext cx="1463040" cy="256032"/>
          </a:xfrm>
          <a:prstGeom prst="rect">
            <a:avLst/>
          </a:prstGeom>
          <a:noFill/>
        </p:spPr>
        <p:txBody>
          <a:bodyPr wrap="square">
            <a:spAutoFit/>
          </a:bodyPr>
          <a:lstStyle/>
          <a:p>
            <a:pPr algn="l"/>
            <a:r>
              <a:rPr sz="850" b="0" i="0">
                <a:solidFill>
                  <a:srgbClr val="94A3B8"/>
                </a:solidFill>
              </a:rPr>
              <a:t>notebook.py</a:t>
            </a:r>
          </a:p>
        </p:txBody>
      </p:sp>
      <p:sp>
        <p:nvSpPr>
          <p:cNvPr id="17" name="TextBox 16"/>
          <p:cNvSpPr txBox="1"/>
          <p:nvPr/>
        </p:nvSpPr>
        <p:spPr>
          <a:xfrm>
            <a:off x="6012179" y="1719072"/>
            <a:ext cx="292608" cy="274320"/>
          </a:xfrm>
          <a:prstGeom prst="rect">
            <a:avLst/>
          </a:prstGeom>
          <a:noFill/>
        </p:spPr>
        <p:txBody>
          <a:bodyPr wrap="square">
            <a:spAutoFit/>
          </a:bodyPr>
          <a:lstStyle/>
          <a:p>
            <a:pPr algn="ctr"/>
            <a:r>
              <a:rPr sz="1400" b="0" i="0">
                <a:solidFill>
                  <a:srgbClr val="94A3B8"/>
                </a:solidFill>
              </a:rPr>
              <a:t>→</a:t>
            </a:r>
          </a:p>
        </p:txBody>
      </p:sp>
      <p:sp>
        <p:nvSpPr>
          <p:cNvPr id="18" name="Rectangle 17"/>
          <p:cNvSpPr/>
          <p:nvPr/>
        </p:nvSpPr>
        <p:spPr>
          <a:xfrm>
            <a:off x="6195060"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6500" y="1490472"/>
            <a:ext cx="1463040" cy="276999"/>
          </a:xfrm>
          <a:prstGeom prst="rect">
            <a:avLst/>
          </a:prstGeom>
          <a:noFill/>
        </p:spPr>
        <p:txBody>
          <a:bodyPr wrap="square">
            <a:spAutoFit/>
          </a:bodyPr>
          <a:lstStyle/>
          <a:p>
            <a:pPr algn="l"/>
            <a:r>
              <a:rPr sz="1200" b="1" i="0" dirty="0">
                <a:solidFill>
                  <a:srgbClr val="22C55E"/>
                </a:solidFill>
              </a:rPr>
              <a:t>  </a:t>
            </a:r>
            <a:r>
              <a:rPr sz="1200" b="1" i="0" dirty="0" err="1">
                <a:solidFill>
                  <a:srgbClr val="22C55E"/>
                </a:solidFill>
              </a:rPr>
              <a:t>PySpark</a:t>
            </a:r>
            <a:endParaRPr sz="1200" b="1" i="0" dirty="0">
              <a:solidFill>
                <a:srgbClr val="22C55E"/>
              </a:solidFill>
            </a:endParaRPr>
          </a:p>
        </p:txBody>
      </p:sp>
      <p:sp>
        <p:nvSpPr>
          <p:cNvPr id="20" name="TextBox 19"/>
          <p:cNvSpPr txBox="1"/>
          <p:nvPr/>
        </p:nvSpPr>
        <p:spPr>
          <a:xfrm>
            <a:off x="6286500" y="1828800"/>
            <a:ext cx="1463040" cy="256032"/>
          </a:xfrm>
          <a:prstGeom prst="rect">
            <a:avLst/>
          </a:prstGeom>
          <a:noFill/>
        </p:spPr>
        <p:txBody>
          <a:bodyPr wrap="square">
            <a:spAutoFit/>
          </a:bodyPr>
          <a:lstStyle/>
          <a:p>
            <a:pPr algn="l"/>
            <a:r>
              <a:rPr sz="850" b="0" i="0">
                <a:solidFill>
                  <a:srgbClr val="94A3B8"/>
                </a:solidFill>
              </a:rPr>
              <a:t>traitement.py</a:t>
            </a:r>
          </a:p>
        </p:txBody>
      </p:sp>
      <p:sp>
        <p:nvSpPr>
          <p:cNvPr id="21" name="TextBox 20"/>
          <p:cNvSpPr txBox="1"/>
          <p:nvPr/>
        </p:nvSpPr>
        <p:spPr>
          <a:xfrm>
            <a:off x="7859268" y="1719072"/>
            <a:ext cx="292608" cy="274320"/>
          </a:xfrm>
          <a:prstGeom prst="rect">
            <a:avLst/>
          </a:prstGeom>
          <a:noFill/>
        </p:spPr>
        <p:txBody>
          <a:bodyPr wrap="square">
            <a:spAutoFit/>
          </a:bodyPr>
          <a:lstStyle/>
          <a:p>
            <a:pPr algn="ctr"/>
            <a:r>
              <a:rPr sz="1400" b="0" i="0">
                <a:solidFill>
                  <a:srgbClr val="94A3B8"/>
                </a:solidFill>
              </a:rPr>
              <a:t>→</a:t>
            </a:r>
          </a:p>
        </p:txBody>
      </p:sp>
      <p:sp>
        <p:nvSpPr>
          <p:cNvPr id="22" name="Rectangle 21"/>
          <p:cNvSpPr/>
          <p:nvPr/>
        </p:nvSpPr>
        <p:spPr>
          <a:xfrm>
            <a:off x="8042148"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3588" y="1490472"/>
            <a:ext cx="1463040" cy="276999"/>
          </a:xfrm>
          <a:prstGeom prst="rect">
            <a:avLst/>
          </a:prstGeom>
          <a:noFill/>
        </p:spPr>
        <p:txBody>
          <a:bodyPr wrap="square">
            <a:spAutoFit/>
          </a:bodyPr>
          <a:lstStyle/>
          <a:p>
            <a:pPr algn="l"/>
            <a:r>
              <a:rPr sz="1200" b="1" i="0" dirty="0">
                <a:solidFill>
                  <a:srgbClr val="EF4444"/>
                </a:solidFill>
              </a:rPr>
              <a:t>  PostgreSQL</a:t>
            </a:r>
          </a:p>
        </p:txBody>
      </p:sp>
      <p:sp>
        <p:nvSpPr>
          <p:cNvPr id="24" name="TextBox 23"/>
          <p:cNvSpPr txBox="1"/>
          <p:nvPr/>
        </p:nvSpPr>
        <p:spPr>
          <a:xfrm>
            <a:off x="8133588" y="1828800"/>
            <a:ext cx="1463040" cy="256032"/>
          </a:xfrm>
          <a:prstGeom prst="rect">
            <a:avLst/>
          </a:prstGeom>
          <a:noFill/>
        </p:spPr>
        <p:txBody>
          <a:bodyPr wrap="square">
            <a:spAutoFit/>
          </a:bodyPr>
          <a:lstStyle/>
          <a:p>
            <a:pPr algn="l"/>
            <a:r>
              <a:rPr sz="850" b="0" i="0">
                <a:solidFill>
                  <a:srgbClr val="94A3B8"/>
                </a:solidFill>
              </a:rPr>
              <a:t>load_postgres.py</a:t>
            </a:r>
          </a:p>
        </p:txBody>
      </p:sp>
      <p:sp>
        <p:nvSpPr>
          <p:cNvPr id="25" name="TextBox 24"/>
          <p:cNvSpPr txBox="1"/>
          <p:nvPr/>
        </p:nvSpPr>
        <p:spPr>
          <a:xfrm>
            <a:off x="9706356" y="1719072"/>
            <a:ext cx="292608" cy="274320"/>
          </a:xfrm>
          <a:prstGeom prst="rect">
            <a:avLst/>
          </a:prstGeom>
          <a:noFill/>
        </p:spPr>
        <p:txBody>
          <a:bodyPr wrap="square">
            <a:spAutoFit/>
          </a:bodyPr>
          <a:lstStyle/>
          <a:p>
            <a:pPr algn="ctr"/>
            <a:r>
              <a:rPr sz="1400" b="0" i="0">
                <a:solidFill>
                  <a:srgbClr val="94A3B8"/>
                </a:solidFill>
              </a:rPr>
              <a:t>→</a:t>
            </a:r>
          </a:p>
        </p:txBody>
      </p:sp>
      <p:sp>
        <p:nvSpPr>
          <p:cNvPr id="26" name="Rectangle 25"/>
          <p:cNvSpPr/>
          <p:nvPr/>
        </p:nvSpPr>
        <p:spPr>
          <a:xfrm>
            <a:off x="9889236" y="1417320"/>
            <a:ext cx="1645920" cy="91440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80676" y="1490472"/>
            <a:ext cx="1463040" cy="276999"/>
          </a:xfrm>
          <a:prstGeom prst="rect">
            <a:avLst/>
          </a:prstGeom>
          <a:noFill/>
        </p:spPr>
        <p:txBody>
          <a:bodyPr wrap="square">
            <a:spAutoFit/>
          </a:bodyPr>
          <a:lstStyle/>
          <a:p>
            <a:pPr algn="l"/>
            <a:r>
              <a:rPr sz="1200" b="1" i="0" dirty="0">
                <a:solidFill>
                  <a:srgbClr val="FBBF24"/>
                </a:solidFill>
              </a:rPr>
              <a:t>  Dashboard</a:t>
            </a:r>
          </a:p>
        </p:txBody>
      </p:sp>
      <p:sp>
        <p:nvSpPr>
          <p:cNvPr id="28" name="TextBox 27"/>
          <p:cNvSpPr txBox="1"/>
          <p:nvPr/>
        </p:nvSpPr>
        <p:spPr>
          <a:xfrm>
            <a:off x="9980676" y="1828800"/>
            <a:ext cx="1463040" cy="256032"/>
          </a:xfrm>
          <a:prstGeom prst="rect">
            <a:avLst/>
          </a:prstGeom>
          <a:noFill/>
        </p:spPr>
        <p:txBody>
          <a:bodyPr wrap="square">
            <a:spAutoFit/>
          </a:bodyPr>
          <a:lstStyle/>
          <a:p>
            <a:pPr algn="l"/>
            <a:r>
              <a:rPr sz="850" b="0" i="0">
                <a:solidFill>
                  <a:srgbClr val="94A3B8"/>
                </a:solidFill>
              </a:rPr>
              <a:t>app.py</a:t>
            </a:r>
          </a:p>
        </p:txBody>
      </p:sp>
      <p:sp>
        <p:nvSpPr>
          <p:cNvPr id="29" name="Rectangle 28"/>
          <p:cNvSpPr/>
          <p:nvPr/>
        </p:nvSpPr>
        <p:spPr>
          <a:xfrm>
            <a:off x="457200" y="251460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2651760"/>
            <a:ext cx="457200" cy="457200"/>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2697480"/>
            <a:ext cx="457200" cy="347472"/>
          </a:xfrm>
          <a:prstGeom prst="rect">
            <a:avLst/>
          </a:prstGeom>
          <a:noFill/>
        </p:spPr>
        <p:txBody>
          <a:bodyPr wrap="square">
            <a:spAutoFit/>
          </a:bodyPr>
          <a:lstStyle/>
          <a:p>
            <a:pPr algn="ctr"/>
            <a:r>
              <a:rPr sz="1400" b="1" i="0">
                <a:solidFill>
                  <a:srgbClr val="38BDF8"/>
                </a:solidFill>
              </a:rPr>
              <a:t>1</a:t>
            </a:r>
          </a:p>
        </p:txBody>
      </p:sp>
      <p:sp>
        <p:nvSpPr>
          <p:cNvPr id="32" name="TextBox 31"/>
          <p:cNvSpPr txBox="1"/>
          <p:nvPr/>
        </p:nvSpPr>
        <p:spPr>
          <a:xfrm>
            <a:off x="1115568" y="2624328"/>
            <a:ext cx="4800600" cy="292608"/>
          </a:xfrm>
          <a:prstGeom prst="rect">
            <a:avLst/>
          </a:prstGeom>
          <a:noFill/>
        </p:spPr>
        <p:txBody>
          <a:bodyPr wrap="square">
            <a:spAutoFit/>
          </a:bodyPr>
          <a:lstStyle/>
          <a:p>
            <a:pPr algn="l"/>
            <a:r>
              <a:rPr sz="1200" b="1" i="0">
                <a:solidFill>
                  <a:srgbClr val="F8FAFC"/>
                </a:solidFill>
              </a:rPr>
              <a:t>Collecte API STAR</a:t>
            </a:r>
          </a:p>
        </p:txBody>
      </p:sp>
      <p:sp>
        <p:nvSpPr>
          <p:cNvPr id="33" name="TextBox 32"/>
          <p:cNvSpPr txBox="1"/>
          <p:nvPr/>
        </p:nvSpPr>
        <p:spPr>
          <a:xfrm>
            <a:off x="1115568" y="2953512"/>
            <a:ext cx="4800600" cy="685800"/>
          </a:xfrm>
          <a:prstGeom prst="rect">
            <a:avLst/>
          </a:prstGeom>
          <a:noFill/>
        </p:spPr>
        <p:txBody>
          <a:bodyPr wrap="square">
            <a:spAutoFit/>
          </a:bodyPr>
          <a:lstStyle/>
          <a:p>
            <a:pPr algn="l"/>
            <a:r>
              <a:rPr sz="1000" b="0" i="0">
                <a:solidFill>
                  <a:srgbClr val="94A3B8"/>
                </a:solidFill>
              </a:rPr>
              <a:t>Requête REST sur data.explore.star.fr — retour JSON normalisé,
sauvegarde Parquet brut dans data/raw/.</a:t>
            </a:r>
          </a:p>
        </p:txBody>
      </p:sp>
      <p:sp>
        <p:nvSpPr>
          <p:cNvPr id="34" name="Rectangle 33"/>
          <p:cNvSpPr/>
          <p:nvPr/>
        </p:nvSpPr>
        <p:spPr>
          <a:xfrm>
            <a:off x="6537959" y="251460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629399" y="2651760"/>
            <a:ext cx="457200" cy="457200"/>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29399" y="2697480"/>
            <a:ext cx="457200" cy="347472"/>
          </a:xfrm>
          <a:prstGeom prst="rect">
            <a:avLst/>
          </a:prstGeom>
          <a:noFill/>
        </p:spPr>
        <p:txBody>
          <a:bodyPr wrap="square">
            <a:spAutoFit/>
          </a:bodyPr>
          <a:lstStyle/>
          <a:p>
            <a:pPr algn="ctr"/>
            <a:r>
              <a:rPr sz="1400" b="1" i="0">
                <a:solidFill>
                  <a:srgbClr val="A78BFA"/>
                </a:solidFill>
              </a:rPr>
              <a:t>2</a:t>
            </a:r>
          </a:p>
        </p:txBody>
      </p:sp>
      <p:sp>
        <p:nvSpPr>
          <p:cNvPr id="37" name="TextBox 36"/>
          <p:cNvSpPr txBox="1"/>
          <p:nvPr/>
        </p:nvSpPr>
        <p:spPr>
          <a:xfrm>
            <a:off x="7196327" y="2624328"/>
            <a:ext cx="4800600" cy="292608"/>
          </a:xfrm>
          <a:prstGeom prst="rect">
            <a:avLst/>
          </a:prstGeom>
          <a:noFill/>
        </p:spPr>
        <p:txBody>
          <a:bodyPr wrap="square">
            <a:spAutoFit/>
          </a:bodyPr>
          <a:lstStyle/>
          <a:p>
            <a:pPr algn="l"/>
            <a:r>
              <a:rPr sz="1200" b="1" i="0">
                <a:solidFill>
                  <a:srgbClr val="F8FAFC"/>
                </a:solidFill>
              </a:rPr>
              <a:t>Scraping météo</a:t>
            </a:r>
          </a:p>
        </p:txBody>
      </p:sp>
      <p:sp>
        <p:nvSpPr>
          <p:cNvPr id="38" name="TextBox 37"/>
          <p:cNvSpPr txBox="1"/>
          <p:nvPr/>
        </p:nvSpPr>
        <p:spPr>
          <a:xfrm>
            <a:off x="7196327" y="2953512"/>
            <a:ext cx="4800600" cy="685800"/>
          </a:xfrm>
          <a:prstGeom prst="rect">
            <a:avLst/>
          </a:prstGeom>
          <a:noFill/>
        </p:spPr>
        <p:txBody>
          <a:bodyPr wrap="square">
            <a:spAutoFit/>
          </a:bodyPr>
          <a:lstStyle/>
          <a:p>
            <a:pPr algn="l"/>
            <a:r>
              <a:rPr sz="1000" b="0" i="0">
                <a:solidFill>
                  <a:srgbClr val="94A3B8"/>
                </a:solidFill>
              </a:rPr>
              <a:t>BeautifulSoup parse la page HTML météo de Rennes — extrait
température, risque de pluie, condition horaire.</a:t>
            </a:r>
          </a:p>
        </p:txBody>
      </p:sp>
      <p:sp>
        <p:nvSpPr>
          <p:cNvPr id="39" name="Rectangle 38"/>
          <p:cNvSpPr/>
          <p:nvPr/>
        </p:nvSpPr>
        <p:spPr>
          <a:xfrm>
            <a:off x="457200" y="384048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48640" y="3977640"/>
            <a:ext cx="457200" cy="457200"/>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023360"/>
            <a:ext cx="457200" cy="347472"/>
          </a:xfrm>
          <a:prstGeom prst="rect">
            <a:avLst/>
          </a:prstGeom>
          <a:noFill/>
        </p:spPr>
        <p:txBody>
          <a:bodyPr wrap="square">
            <a:spAutoFit/>
          </a:bodyPr>
          <a:lstStyle/>
          <a:p>
            <a:pPr algn="ctr"/>
            <a:r>
              <a:rPr sz="1400" b="1" i="0">
                <a:solidFill>
                  <a:srgbClr val="F59E0B"/>
                </a:solidFill>
              </a:rPr>
              <a:t>3</a:t>
            </a:r>
          </a:p>
        </p:txBody>
      </p:sp>
      <p:sp>
        <p:nvSpPr>
          <p:cNvPr id="42" name="TextBox 41"/>
          <p:cNvSpPr txBox="1"/>
          <p:nvPr/>
        </p:nvSpPr>
        <p:spPr>
          <a:xfrm>
            <a:off x="1115568" y="3950208"/>
            <a:ext cx="4800600" cy="292608"/>
          </a:xfrm>
          <a:prstGeom prst="rect">
            <a:avLst/>
          </a:prstGeom>
          <a:noFill/>
        </p:spPr>
        <p:txBody>
          <a:bodyPr wrap="square">
            <a:spAutoFit/>
          </a:bodyPr>
          <a:lstStyle/>
          <a:p>
            <a:pPr algn="l"/>
            <a:r>
              <a:rPr sz="1200" b="1" i="0">
                <a:solidFill>
                  <a:srgbClr val="F8FAFC"/>
                </a:solidFill>
              </a:rPr>
              <a:t>Analyse exploratoire (EDA)</a:t>
            </a:r>
          </a:p>
        </p:txBody>
      </p:sp>
      <p:sp>
        <p:nvSpPr>
          <p:cNvPr id="43" name="TextBox 42"/>
          <p:cNvSpPr txBox="1"/>
          <p:nvPr/>
        </p:nvSpPr>
        <p:spPr>
          <a:xfrm>
            <a:off x="1115568" y="4279392"/>
            <a:ext cx="4800600" cy="685800"/>
          </a:xfrm>
          <a:prstGeom prst="rect">
            <a:avLst/>
          </a:prstGeom>
          <a:noFill/>
        </p:spPr>
        <p:txBody>
          <a:bodyPr wrap="square">
            <a:spAutoFit/>
          </a:bodyPr>
          <a:lstStyle/>
          <a:p>
            <a:pPr algn="l"/>
            <a:r>
              <a:rPr sz="1000" b="0" i="0">
                <a:solidFill>
                  <a:srgbClr val="94A3B8"/>
                </a:solidFill>
              </a:rPr>
              <a:t>Contrôle qualité : valeurs manquantes, stats descriptives,
distribution des colonnes → rapport Markdown.</a:t>
            </a:r>
          </a:p>
        </p:txBody>
      </p:sp>
      <p:sp>
        <p:nvSpPr>
          <p:cNvPr id="44" name="Rectangle 43"/>
          <p:cNvSpPr/>
          <p:nvPr/>
        </p:nvSpPr>
        <p:spPr>
          <a:xfrm>
            <a:off x="6537959" y="384048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629399" y="3977640"/>
            <a:ext cx="457200" cy="457200"/>
          </a:xfrm>
          <a:prstGeom prst="rect">
            <a:avLst/>
          </a:prstGeom>
          <a:solidFill>
            <a:srgbClr val="1E293B"/>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29399" y="4023360"/>
            <a:ext cx="457200" cy="347472"/>
          </a:xfrm>
          <a:prstGeom prst="rect">
            <a:avLst/>
          </a:prstGeom>
          <a:noFill/>
        </p:spPr>
        <p:txBody>
          <a:bodyPr wrap="square">
            <a:spAutoFit/>
          </a:bodyPr>
          <a:lstStyle/>
          <a:p>
            <a:pPr algn="ctr"/>
            <a:r>
              <a:rPr sz="1400" b="1" i="0">
                <a:solidFill>
                  <a:srgbClr val="22C55E"/>
                </a:solidFill>
              </a:rPr>
              <a:t>4</a:t>
            </a:r>
          </a:p>
        </p:txBody>
      </p:sp>
      <p:sp>
        <p:nvSpPr>
          <p:cNvPr id="47" name="TextBox 46"/>
          <p:cNvSpPr txBox="1"/>
          <p:nvPr/>
        </p:nvSpPr>
        <p:spPr>
          <a:xfrm>
            <a:off x="7196327" y="3950208"/>
            <a:ext cx="4800600" cy="292608"/>
          </a:xfrm>
          <a:prstGeom prst="rect">
            <a:avLst/>
          </a:prstGeom>
          <a:noFill/>
        </p:spPr>
        <p:txBody>
          <a:bodyPr wrap="square">
            <a:spAutoFit/>
          </a:bodyPr>
          <a:lstStyle/>
          <a:p>
            <a:pPr algn="l"/>
            <a:r>
              <a:rPr sz="1200" b="1" i="0">
                <a:solidFill>
                  <a:srgbClr val="F8FAFC"/>
                </a:solidFill>
              </a:rPr>
              <a:t>Traitement PySpark</a:t>
            </a:r>
          </a:p>
        </p:txBody>
      </p:sp>
      <p:sp>
        <p:nvSpPr>
          <p:cNvPr id="48" name="TextBox 47"/>
          <p:cNvSpPr txBox="1"/>
          <p:nvPr/>
        </p:nvSpPr>
        <p:spPr>
          <a:xfrm>
            <a:off x="7196327" y="4279392"/>
            <a:ext cx="4800600" cy="685800"/>
          </a:xfrm>
          <a:prstGeom prst="rect">
            <a:avLst/>
          </a:prstGeom>
          <a:noFill/>
        </p:spPr>
        <p:txBody>
          <a:bodyPr wrap="square">
            <a:spAutoFit/>
          </a:bodyPr>
          <a:lstStyle/>
          <a:p>
            <a:pPr algn="l"/>
            <a:r>
              <a:rPr sz="1000" b="0" i="0">
                <a:solidFill>
                  <a:srgbClr val="94A3B8"/>
                </a:solidFill>
              </a:rPr>
              <a:t>Nettoyage, imputation médiane, encodage catégoriel,
fusion vélos + météo, export Parquet propre.</a:t>
            </a:r>
          </a:p>
        </p:txBody>
      </p:sp>
      <p:sp>
        <p:nvSpPr>
          <p:cNvPr id="49" name="Rectangle 48"/>
          <p:cNvSpPr/>
          <p:nvPr/>
        </p:nvSpPr>
        <p:spPr>
          <a:xfrm>
            <a:off x="457200" y="516636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48640" y="5303520"/>
            <a:ext cx="457200" cy="457200"/>
          </a:xfrm>
          <a:prstGeom prst="rect">
            <a:avLst/>
          </a:prstGeom>
          <a:solidFill>
            <a:srgbClr val="1E293B"/>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 y="5349240"/>
            <a:ext cx="457200" cy="347472"/>
          </a:xfrm>
          <a:prstGeom prst="rect">
            <a:avLst/>
          </a:prstGeom>
          <a:noFill/>
        </p:spPr>
        <p:txBody>
          <a:bodyPr wrap="square">
            <a:spAutoFit/>
          </a:bodyPr>
          <a:lstStyle/>
          <a:p>
            <a:pPr algn="ctr"/>
            <a:r>
              <a:rPr sz="1400" b="1" i="0">
                <a:solidFill>
                  <a:srgbClr val="EF4444"/>
                </a:solidFill>
              </a:rPr>
              <a:t>5</a:t>
            </a:r>
          </a:p>
        </p:txBody>
      </p:sp>
      <p:sp>
        <p:nvSpPr>
          <p:cNvPr id="52" name="TextBox 51"/>
          <p:cNvSpPr txBox="1"/>
          <p:nvPr/>
        </p:nvSpPr>
        <p:spPr>
          <a:xfrm>
            <a:off x="1115568" y="5276088"/>
            <a:ext cx="4800600" cy="292608"/>
          </a:xfrm>
          <a:prstGeom prst="rect">
            <a:avLst/>
          </a:prstGeom>
          <a:noFill/>
        </p:spPr>
        <p:txBody>
          <a:bodyPr wrap="square">
            <a:spAutoFit/>
          </a:bodyPr>
          <a:lstStyle/>
          <a:p>
            <a:pPr algn="l"/>
            <a:r>
              <a:rPr sz="1200" b="1" i="0">
                <a:solidFill>
                  <a:srgbClr val="F8FAFC"/>
                </a:solidFill>
              </a:rPr>
              <a:t>Chargement PostgreSQL</a:t>
            </a:r>
          </a:p>
        </p:txBody>
      </p:sp>
      <p:sp>
        <p:nvSpPr>
          <p:cNvPr id="53" name="TextBox 52"/>
          <p:cNvSpPr txBox="1"/>
          <p:nvPr/>
        </p:nvSpPr>
        <p:spPr>
          <a:xfrm>
            <a:off x="1115568" y="5605272"/>
            <a:ext cx="4800600" cy="685800"/>
          </a:xfrm>
          <a:prstGeom prst="rect">
            <a:avLst/>
          </a:prstGeom>
          <a:noFill/>
        </p:spPr>
        <p:txBody>
          <a:bodyPr wrap="square">
            <a:spAutoFit/>
          </a:bodyPr>
          <a:lstStyle/>
          <a:p>
            <a:pPr algn="l"/>
            <a:r>
              <a:rPr sz="1000" b="0" i="0">
                <a:solidFill>
                  <a:srgbClr val="94A3B8"/>
                </a:solidFill>
              </a:rPr>
              <a:t>Lecture Parquet final, création table si besoin,
rechargement complet via SQLAlchemy / pg8000.</a:t>
            </a:r>
          </a:p>
        </p:txBody>
      </p:sp>
      <p:sp>
        <p:nvSpPr>
          <p:cNvPr id="54" name="Rectangle 53"/>
          <p:cNvSpPr/>
          <p:nvPr/>
        </p:nvSpPr>
        <p:spPr>
          <a:xfrm>
            <a:off x="6537959" y="5166360"/>
            <a:ext cx="5577840" cy="123444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629399" y="5303520"/>
            <a:ext cx="457200" cy="457200"/>
          </a:xfrm>
          <a:prstGeom prst="rect">
            <a:avLst/>
          </a:prstGeom>
          <a:solidFill>
            <a:srgbClr val="1E293B"/>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29399" y="5349240"/>
            <a:ext cx="457200" cy="347472"/>
          </a:xfrm>
          <a:prstGeom prst="rect">
            <a:avLst/>
          </a:prstGeom>
          <a:noFill/>
        </p:spPr>
        <p:txBody>
          <a:bodyPr wrap="square">
            <a:spAutoFit/>
          </a:bodyPr>
          <a:lstStyle/>
          <a:p>
            <a:pPr algn="ctr"/>
            <a:r>
              <a:rPr sz="1400" b="1" i="0">
                <a:solidFill>
                  <a:srgbClr val="FBBF24"/>
                </a:solidFill>
              </a:rPr>
              <a:t>6</a:t>
            </a:r>
          </a:p>
        </p:txBody>
      </p:sp>
      <p:sp>
        <p:nvSpPr>
          <p:cNvPr id="57" name="TextBox 56"/>
          <p:cNvSpPr txBox="1"/>
          <p:nvPr/>
        </p:nvSpPr>
        <p:spPr>
          <a:xfrm>
            <a:off x="7196327" y="5276088"/>
            <a:ext cx="4800600" cy="292608"/>
          </a:xfrm>
          <a:prstGeom prst="rect">
            <a:avLst/>
          </a:prstGeom>
          <a:noFill/>
        </p:spPr>
        <p:txBody>
          <a:bodyPr wrap="square">
            <a:spAutoFit/>
          </a:bodyPr>
          <a:lstStyle/>
          <a:p>
            <a:pPr algn="l"/>
            <a:r>
              <a:rPr sz="1200" b="1" i="0">
                <a:solidFill>
                  <a:srgbClr val="F8FAFC"/>
                </a:solidFill>
              </a:rPr>
              <a:t>Dashboard Streamlit</a:t>
            </a:r>
          </a:p>
        </p:txBody>
      </p:sp>
      <p:sp>
        <p:nvSpPr>
          <p:cNvPr id="58" name="TextBox 57"/>
          <p:cNvSpPr txBox="1"/>
          <p:nvPr/>
        </p:nvSpPr>
        <p:spPr>
          <a:xfrm>
            <a:off x="7196327" y="5605272"/>
            <a:ext cx="4800600" cy="685800"/>
          </a:xfrm>
          <a:prstGeom prst="rect">
            <a:avLst/>
          </a:prstGeom>
          <a:noFill/>
        </p:spPr>
        <p:txBody>
          <a:bodyPr wrap="square">
            <a:spAutoFit/>
          </a:bodyPr>
          <a:lstStyle/>
          <a:p>
            <a:pPr algn="l"/>
            <a:r>
              <a:rPr sz="1000" b="0" i="0">
                <a:solidFill>
                  <a:srgbClr val="94A3B8"/>
                </a:solidFill>
              </a:rPr>
              <a:t>Lecture PostgreSQL (fallback Parquet local),
KPIs temps réel, graphiques Plotly interactifs.</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04 · CHOIX DES SOURCES</a:t>
            </a:r>
          </a:p>
        </p:txBody>
      </p:sp>
      <p:sp>
        <p:nvSpPr>
          <p:cNvPr id="3" name="TextBox 2"/>
          <p:cNvSpPr txBox="1"/>
          <p:nvPr/>
        </p:nvSpPr>
        <p:spPr>
          <a:xfrm>
            <a:off x="457200" y="548640"/>
            <a:ext cx="10972800" cy="594360"/>
          </a:xfrm>
          <a:prstGeom prst="rect">
            <a:avLst/>
          </a:prstGeom>
          <a:noFill/>
        </p:spPr>
        <p:txBody>
          <a:bodyPr wrap="square">
            <a:spAutoFit/>
          </a:bodyPr>
          <a:lstStyle/>
          <a:p>
            <a:pPr algn="l"/>
            <a:r>
              <a:rPr sz="2800" b="1" i="0">
                <a:solidFill>
                  <a:srgbClr val="F8FAFC"/>
                </a:solidFill>
              </a:rPr>
              <a:t>Pourquoi ces sources de données ?</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577840" cy="31546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08760"/>
            <a:ext cx="5303520" cy="292388"/>
          </a:xfrm>
          <a:prstGeom prst="rect">
            <a:avLst/>
          </a:prstGeom>
          <a:noFill/>
        </p:spPr>
        <p:txBody>
          <a:bodyPr wrap="square">
            <a:spAutoFit/>
          </a:bodyPr>
          <a:lstStyle/>
          <a:p>
            <a:pPr algn="l"/>
            <a:r>
              <a:rPr sz="1300" b="1" i="0" dirty="0">
                <a:solidFill>
                  <a:srgbClr val="F8FAFC"/>
                </a:solidFill>
              </a:rPr>
              <a:t>  API STAR Open Data</a:t>
            </a:r>
          </a:p>
        </p:txBody>
      </p:sp>
      <p:sp>
        <p:nvSpPr>
          <p:cNvPr id="8" name="Rectangle 7"/>
          <p:cNvSpPr/>
          <p:nvPr/>
        </p:nvSpPr>
        <p:spPr>
          <a:xfrm>
            <a:off x="594360" y="1920240"/>
            <a:ext cx="2052828" cy="292608"/>
          </a:xfrm>
          <a:prstGeom prst="rect">
            <a:avLst/>
          </a:prstGeom>
          <a:solidFill>
            <a:srgbClr val="0C2A3A"/>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956816"/>
            <a:ext cx="1906524" cy="237744"/>
          </a:xfrm>
          <a:prstGeom prst="rect">
            <a:avLst/>
          </a:prstGeom>
          <a:noFill/>
        </p:spPr>
        <p:txBody>
          <a:bodyPr wrap="square">
            <a:spAutoFit/>
          </a:bodyPr>
          <a:lstStyle/>
          <a:p>
            <a:pPr algn="ctr"/>
            <a:r>
              <a:rPr sz="900" b="1" i="0">
                <a:solidFill>
                  <a:srgbClr val="38BDF8"/>
                </a:solidFill>
              </a:rPr>
              <a:t>REST · JSON · Gratuit</a:t>
            </a:r>
          </a:p>
        </p:txBody>
      </p:sp>
      <p:sp>
        <p:nvSpPr>
          <p:cNvPr id="10" name="TextBox 9"/>
          <p:cNvSpPr txBox="1"/>
          <p:nvPr/>
        </p:nvSpPr>
        <p:spPr>
          <a:xfrm>
            <a:off x="594360" y="2286000"/>
            <a:ext cx="5212080" cy="253916"/>
          </a:xfrm>
          <a:prstGeom prst="rect">
            <a:avLst/>
          </a:prstGeom>
          <a:noFill/>
        </p:spPr>
        <p:txBody>
          <a:bodyPr wrap="square">
            <a:spAutoFit/>
          </a:bodyPr>
          <a:lstStyle/>
          <a:p>
            <a:pPr algn="l"/>
            <a:r>
              <a:rPr sz="1050" b="0" i="0" dirty="0">
                <a:solidFill>
                  <a:srgbClr val="94A3B8"/>
                </a:solidFill>
              </a:rPr>
              <a:t>  </a:t>
            </a:r>
            <a:r>
              <a:rPr sz="1050" b="0" i="0" dirty="0" err="1">
                <a:solidFill>
                  <a:srgbClr val="94A3B8"/>
                </a:solidFill>
              </a:rPr>
              <a:t>Officielle</a:t>
            </a:r>
            <a:r>
              <a:rPr sz="1050" b="0" i="0" dirty="0">
                <a:solidFill>
                  <a:srgbClr val="94A3B8"/>
                </a:solidFill>
              </a:rPr>
              <a:t> &amp; </a:t>
            </a:r>
            <a:r>
              <a:rPr sz="1050" b="0" i="0" dirty="0" err="1">
                <a:solidFill>
                  <a:srgbClr val="94A3B8"/>
                </a:solidFill>
              </a:rPr>
              <a:t>fiable</a:t>
            </a:r>
            <a:r>
              <a:rPr sz="1050" b="0" i="0" dirty="0">
                <a:solidFill>
                  <a:srgbClr val="94A3B8"/>
                </a:solidFill>
              </a:rPr>
              <a:t> — données temps </a:t>
            </a:r>
            <a:r>
              <a:rPr sz="1050" b="0" i="0" dirty="0" err="1">
                <a:solidFill>
                  <a:srgbClr val="94A3B8"/>
                </a:solidFill>
              </a:rPr>
              <a:t>réel</a:t>
            </a:r>
            <a:r>
              <a:rPr sz="1050" b="0" i="0" dirty="0">
                <a:solidFill>
                  <a:srgbClr val="94A3B8"/>
                </a:solidFill>
              </a:rPr>
              <a:t> de </a:t>
            </a:r>
            <a:r>
              <a:rPr sz="1050" b="0" i="0" dirty="0" err="1">
                <a:solidFill>
                  <a:srgbClr val="94A3B8"/>
                </a:solidFill>
              </a:rPr>
              <a:t>l'opérateur</a:t>
            </a:r>
            <a:endParaRPr sz="1050" b="0" i="0" dirty="0">
              <a:solidFill>
                <a:srgbClr val="94A3B8"/>
              </a:solidFill>
            </a:endParaRPr>
          </a:p>
        </p:txBody>
      </p:sp>
      <p:sp>
        <p:nvSpPr>
          <p:cNvPr id="11" name="TextBox 10"/>
          <p:cNvSpPr txBox="1"/>
          <p:nvPr/>
        </p:nvSpPr>
        <p:spPr>
          <a:xfrm>
            <a:off x="594360" y="2670048"/>
            <a:ext cx="5212080" cy="253916"/>
          </a:xfrm>
          <a:prstGeom prst="rect">
            <a:avLst/>
          </a:prstGeom>
          <a:noFill/>
        </p:spPr>
        <p:txBody>
          <a:bodyPr wrap="square">
            <a:spAutoFit/>
          </a:bodyPr>
          <a:lstStyle/>
          <a:p>
            <a:pPr algn="l"/>
            <a:r>
              <a:rPr sz="1050" b="0" i="0" dirty="0">
                <a:solidFill>
                  <a:srgbClr val="94A3B8"/>
                </a:solidFill>
              </a:rPr>
              <a:t>  Open Data — pas de </a:t>
            </a:r>
            <a:r>
              <a:rPr sz="1050" b="0" i="0" dirty="0" err="1">
                <a:solidFill>
                  <a:srgbClr val="94A3B8"/>
                </a:solidFill>
              </a:rPr>
              <a:t>clé</a:t>
            </a:r>
            <a:r>
              <a:rPr sz="1050" b="0" i="0" dirty="0">
                <a:solidFill>
                  <a:srgbClr val="94A3B8"/>
                </a:solidFill>
              </a:rPr>
              <a:t> API, </a:t>
            </a:r>
            <a:r>
              <a:rPr sz="1050" b="0" i="0" dirty="0" err="1">
                <a:solidFill>
                  <a:srgbClr val="94A3B8"/>
                </a:solidFill>
              </a:rPr>
              <a:t>accès</a:t>
            </a:r>
            <a:r>
              <a:rPr sz="1050" b="0" i="0" dirty="0">
                <a:solidFill>
                  <a:srgbClr val="94A3B8"/>
                </a:solidFill>
              </a:rPr>
              <a:t> libre</a:t>
            </a:r>
          </a:p>
        </p:txBody>
      </p:sp>
      <p:sp>
        <p:nvSpPr>
          <p:cNvPr id="12" name="TextBox 11"/>
          <p:cNvSpPr txBox="1"/>
          <p:nvPr/>
        </p:nvSpPr>
        <p:spPr>
          <a:xfrm>
            <a:off x="594360" y="3054096"/>
            <a:ext cx="5212080" cy="253916"/>
          </a:xfrm>
          <a:prstGeom prst="rect">
            <a:avLst/>
          </a:prstGeom>
          <a:noFill/>
        </p:spPr>
        <p:txBody>
          <a:bodyPr wrap="square">
            <a:spAutoFit/>
          </a:bodyPr>
          <a:lstStyle/>
          <a:p>
            <a:pPr algn="l"/>
            <a:r>
              <a:rPr sz="1050" b="0" i="0" dirty="0">
                <a:solidFill>
                  <a:srgbClr val="94A3B8"/>
                </a:solidFill>
              </a:rPr>
              <a:t>  Données riches — </a:t>
            </a:r>
            <a:r>
              <a:rPr sz="1050" b="0" i="0" dirty="0" err="1">
                <a:solidFill>
                  <a:srgbClr val="94A3B8"/>
                </a:solidFill>
              </a:rPr>
              <a:t>vélos</a:t>
            </a:r>
            <a:r>
              <a:rPr sz="1050" b="0" i="0" dirty="0">
                <a:solidFill>
                  <a:srgbClr val="94A3B8"/>
                </a:solidFill>
              </a:rPr>
              <a:t>, </a:t>
            </a:r>
            <a:r>
              <a:rPr sz="1050" b="0" i="0" dirty="0" err="1">
                <a:solidFill>
                  <a:srgbClr val="94A3B8"/>
                </a:solidFill>
              </a:rPr>
              <a:t>électriques</a:t>
            </a:r>
            <a:r>
              <a:rPr sz="1050" b="0" i="0" dirty="0">
                <a:solidFill>
                  <a:srgbClr val="94A3B8"/>
                </a:solidFill>
              </a:rPr>
              <a:t>, </a:t>
            </a:r>
            <a:r>
              <a:rPr sz="1050" b="0" i="0" dirty="0" err="1">
                <a:solidFill>
                  <a:srgbClr val="94A3B8"/>
                </a:solidFill>
              </a:rPr>
              <a:t>bornes</a:t>
            </a:r>
            <a:r>
              <a:rPr sz="1050" b="0" i="0" dirty="0">
                <a:solidFill>
                  <a:srgbClr val="94A3B8"/>
                </a:solidFill>
              </a:rPr>
              <a:t>, </a:t>
            </a:r>
            <a:r>
              <a:rPr sz="1050" b="0" i="0" dirty="0" err="1">
                <a:solidFill>
                  <a:srgbClr val="94A3B8"/>
                </a:solidFill>
              </a:rPr>
              <a:t>statut</a:t>
            </a:r>
            <a:r>
              <a:rPr sz="1050" b="0" i="0" dirty="0">
                <a:solidFill>
                  <a:srgbClr val="94A3B8"/>
                </a:solidFill>
              </a:rPr>
              <a:t>, GPS</a:t>
            </a:r>
          </a:p>
        </p:txBody>
      </p:sp>
      <p:sp>
        <p:nvSpPr>
          <p:cNvPr id="13" name="TextBox 12"/>
          <p:cNvSpPr txBox="1"/>
          <p:nvPr/>
        </p:nvSpPr>
        <p:spPr>
          <a:xfrm>
            <a:off x="594360" y="3438144"/>
            <a:ext cx="5212080" cy="253916"/>
          </a:xfrm>
          <a:prstGeom prst="rect">
            <a:avLst/>
          </a:prstGeom>
          <a:noFill/>
        </p:spPr>
        <p:txBody>
          <a:bodyPr wrap="square">
            <a:spAutoFit/>
          </a:bodyPr>
          <a:lstStyle/>
          <a:p>
            <a:pPr algn="l"/>
            <a:r>
              <a:rPr sz="1050" b="0" i="0" dirty="0">
                <a:solidFill>
                  <a:srgbClr val="94A3B8"/>
                </a:solidFill>
              </a:rPr>
              <a:t>  API stable — endpoint OIDC v2.1 </a:t>
            </a:r>
            <a:r>
              <a:rPr sz="1050" b="0" i="0" dirty="0" err="1">
                <a:solidFill>
                  <a:srgbClr val="94A3B8"/>
                </a:solidFill>
              </a:rPr>
              <a:t>documenté</a:t>
            </a:r>
            <a:endParaRPr sz="1050" b="0" i="0" dirty="0">
              <a:solidFill>
                <a:srgbClr val="94A3B8"/>
              </a:solidFill>
            </a:endParaRPr>
          </a:p>
        </p:txBody>
      </p:sp>
      <p:sp>
        <p:nvSpPr>
          <p:cNvPr id="14" name="TextBox 13"/>
          <p:cNvSpPr txBox="1"/>
          <p:nvPr/>
        </p:nvSpPr>
        <p:spPr>
          <a:xfrm>
            <a:off x="594360" y="3822191"/>
            <a:ext cx="5212080" cy="253916"/>
          </a:xfrm>
          <a:prstGeom prst="rect">
            <a:avLst/>
          </a:prstGeom>
          <a:noFill/>
        </p:spPr>
        <p:txBody>
          <a:bodyPr wrap="square">
            <a:spAutoFit/>
          </a:bodyPr>
          <a:lstStyle/>
          <a:p>
            <a:pPr algn="l"/>
            <a:r>
              <a:rPr sz="1050" b="0" i="0" dirty="0">
                <a:solidFill>
                  <a:srgbClr val="94A3B8"/>
                </a:solidFill>
              </a:rPr>
              <a:t>  Pagination — </a:t>
            </a:r>
            <a:r>
              <a:rPr sz="1050" b="0" i="0" dirty="0" err="1">
                <a:solidFill>
                  <a:srgbClr val="94A3B8"/>
                </a:solidFill>
              </a:rPr>
              <a:t>paramètre</a:t>
            </a:r>
            <a:r>
              <a:rPr sz="1050" b="0" i="0" dirty="0">
                <a:solidFill>
                  <a:srgbClr val="94A3B8"/>
                </a:solidFill>
              </a:rPr>
              <a:t> limit configurable</a:t>
            </a:r>
          </a:p>
        </p:txBody>
      </p:sp>
      <p:sp>
        <p:nvSpPr>
          <p:cNvPr id="15" name="TextBox 14"/>
          <p:cNvSpPr txBox="1"/>
          <p:nvPr/>
        </p:nvSpPr>
        <p:spPr>
          <a:xfrm>
            <a:off x="594360" y="4187952"/>
            <a:ext cx="5212080" cy="457200"/>
          </a:xfrm>
          <a:prstGeom prst="rect">
            <a:avLst/>
          </a:prstGeom>
          <a:noFill/>
        </p:spPr>
        <p:txBody>
          <a:bodyPr wrap="square">
            <a:spAutoFit/>
          </a:bodyPr>
          <a:lstStyle/>
          <a:p>
            <a:pPr algn="l"/>
            <a:r>
              <a:rPr sz="900" b="0" i="0">
                <a:solidFill>
                  <a:srgbClr val="38BDF8"/>
                </a:solidFill>
              </a:rPr>
              <a:t>data.explore.star.fr/api/explore/v2.1/
catalog/datasets/vls-stations-etat-tr/records</a:t>
            </a:r>
          </a:p>
        </p:txBody>
      </p:sp>
      <p:sp>
        <p:nvSpPr>
          <p:cNvPr id="16" name="Rectangle 15"/>
          <p:cNvSpPr/>
          <p:nvPr/>
        </p:nvSpPr>
        <p:spPr>
          <a:xfrm>
            <a:off x="6263640" y="1417320"/>
            <a:ext cx="5486400" cy="31546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508760"/>
            <a:ext cx="5212080" cy="292388"/>
          </a:xfrm>
          <a:prstGeom prst="rect">
            <a:avLst/>
          </a:prstGeom>
          <a:noFill/>
        </p:spPr>
        <p:txBody>
          <a:bodyPr wrap="square">
            <a:spAutoFit/>
          </a:bodyPr>
          <a:lstStyle/>
          <a:p>
            <a:pPr algn="l"/>
            <a:r>
              <a:rPr sz="1300" b="1" i="0" dirty="0">
                <a:solidFill>
                  <a:srgbClr val="F8FAFC"/>
                </a:solidFill>
              </a:rPr>
              <a:t>  Scraping </a:t>
            </a:r>
            <a:r>
              <a:rPr sz="1300" b="1" i="0" dirty="0" err="1">
                <a:solidFill>
                  <a:srgbClr val="F8FAFC"/>
                </a:solidFill>
              </a:rPr>
              <a:t>météo</a:t>
            </a:r>
            <a:r>
              <a:rPr sz="1300" b="1" i="0" dirty="0">
                <a:solidFill>
                  <a:srgbClr val="F8FAFC"/>
                </a:solidFill>
              </a:rPr>
              <a:t> (</a:t>
            </a:r>
            <a:r>
              <a:rPr sz="1300" b="1" i="0" dirty="0" err="1">
                <a:solidFill>
                  <a:srgbClr val="F8FAFC"/>
                </a:solidFill>
              </a:rPr>
              <a:t>MeteoArt</a:t>
            </a:r>
            <a:r>
              <a:rPr sz="1300" b="1" i="0" dirty="0">
                <a:solidFill>
                  <a:srgbClr val="F8FAFC"/>
                </a:solidFill>
              </a:rPr>
              <a:t>)</a:t>
            </a:r>
          </a:p>
        </p:txBody>
      </p:sp>
      <p:sp>
        <p:nvSpPr>
          <p:cNvPr id="18" name="Rectangle 17"/>
          <p:cNvSpPr/>
          <p:nvPr/>
        </p:nvSpPr>
        <p:spPr>
          <a:xfrm>
            <a:off x="6400800" y="1920240"/>
            <a:ext cx="2834640" cy="292608"/>
          </a:xfrm>
          <a:prstGeom prst="rect">
            <a:avLst/>
          </a:prstGeom>
          <a:solidFill>
            <a:srgbClr val="1A1430"/>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1956816"/>
            <a:ext cx="2688336" cy="237744"/>
          </a:xfrm>
          <a:prstGeom prst="rect">
            <a:avLst/>
          </a:prstGeom>
          <a:noFill/>
        </p:spPr>
        <p:txBody>
          <a:bodyPr wrap="square">
            <a:spAutoFit/>
          </a:bodyPr>
          <a:lstStyle/>
          <a:p>
            <a:pPr algn="ctr"/>
            <a:r>
              <a:rPr sz="900" b="1" i="0">
                <a:solidFill>
                  <a:srgbClr val="A78BFA"/>
                </a:solidFill>
              </a:rPr>
              <a:t>HTML · BeautifulSoup · Gratuit</a:t>
            </a:r>
          </a:p>
        </p:txBody>
      </p:sp>
      <p:sp>
        <p:nvSpPr>
          <p:cNvPr id="20" name="TextBox 19"/>
          <p:cNvSpPr txBox="1"/>
          <p:nvPr/>
        </p:nvSpPr>
        <p:spPr>
          <a:xfrm>
            <a:off x="6400800" y="2286000"/>
            <a:ext cx="5212080" cy="253916"/>
          </a:xfrm>
          <a:prstGeom prst="rect">
            <a:avLst/>
          </a:prstGeom>
          <a:noFill/>
        </p:spPr>
        <p:txBody>
          <a:bodyPr wrap="square">
            <a:spAutoFit/>
          </a:bodyPr>
          <a:lstStyle/>
          <a:p>
            <a:pPr algn="l"/>
            <a:r>
              <a:rPr sz="1050" b="0" i="0" dirty="0">
                <a:solidFill>
                  <a:srgbClr val="94A3B8"/>
                </a:solidFill>
              </a:rPr>
              <a:t>Données </a:t>
            </a:r>
            <a:r>
              <a:rPr sz="1050" b="0" i="0" dirty="0" err="1">
                <a:solidFill>
                  <a:srgbClr val="94A3B8"/>
                </a:solidFill>
              </a:rPr>
              <a:t>horaires</a:t>
            </a:r>
            <a:r>
              <a:rPr sz="1050" b="0" i="0" dirty="0">
                <a:solidFill>
                  <a:srgbClr val="94A3B8"/>
                </a:solidFill>
              </a:rPr>
              <a:t> — snapshot à </a:t>
            </a:r>
            <a:r>
              <a:rPr sz="1050" b="0" i="0" dirty="0" err="1">
                <a:solidFill>
                  <a:srgbClr val="94A3B8"/>
                </a:solidFill>
              </a:rPr>
              <a:t>l'heure</a:t>
            </a:r>
            <a:r>
              <a:rPr sz="1050" b="0" i="0" dirty="0">
                <a:solidFill>
                  <a:srgbClr val="94A3B8"/>
                </a:solidFill>
              </a:rPr>
              <a:t> courante (Paris)</a:t>
            </a:r>
          </a:p>
        </p:txBody>
      </p:sp>
      <p:sp>
        <p:nvSpPr>
          <p:cNvPr id="21" name="TextBox 20"/>
          <p:cNvSpPr txBox="1"/>
          <p:nvPr/>
        </p:nvSpPr>
        <p:spPr>
          <a:xfrm>
            <a:off x="6400800" y="2670048"/>
            <a:ext cx="5212080" cy="253916"/>
          </a:xfrm>
          <a:prstGeom prst="rect">
            <a:avLst/>
          </a:prstGeom>
          <a:noFill/>
        </p:spPr>
        <p:txBody>
          <a:bodyPr wrap="square">
            <a:spAutoFit/>
          </a:bodyPr>
          <a:lstStyle/>
          <a:p>
            <a:pPr algn="l"/>
            <a:r>
              <a:rPr sz="1050" b="0" i="0" dirty="0" err="1">
                <a:solidFill>
                  <a:srgbClr val="94A3B8"/>
                </a:solidFill>
              </a:rPr>
              <a:t>Aucun</a:t>
            </a:r>
            <a:r>
              <a:rPr sz="1050" b="0" i="0" dirty="0">
                <a:solidFill>
                  <a:srgbClr val="94A3B8"/>
                </a:solidFill>
              </a:rPr>
              <a:t> </a:t>
            </a:r>
            <a:r>
              <a:rPr sz="1050" b="0" i="0" dirty="0" err="1">
                <a:solidFill>
                  <a:srgbClr val="94A3B8"/>
                </a:solidFill>
              </a:rPr>
              <a:t>coût</a:t>
            </a:r>
            <a:r>
              <a:rPr sz="1050" b="0" i="0" dirty="0">
                <a:solidFill>
                  <a:srgbClr val="94A3B8"/>
                </a:solidFill>
              </a:rPr>
              <a:t> — pas </a:t>
            </a:r>
            <a:r>
              <a:rPr sz="1050" b="0" i="0" dirty="0" err="1">
                <a:solidFill>
                  <a:srgbClr val="94A3B8"/>
                </a:solidFill>
              </a:rPr>
              <a:t>d'abonnement</a:t>
            </a:r>
            <a:r>
              <a:rPr sz="1050" b="0" i="0" dirty="0">
                <a:solidFill>
                  <a:srgbClr val="94A3B8"/>
                </a:solidFill>
              </a:rPr>
              <a:t> API </a:t>
            </a:r>
            <a:r>
              <a:rPr sz="1050" b="0" i="0" dirty="0" err="1">
                <a:solidFill>
                  <a:srgbClr val="94A3B8"/>
                </a:solidFill>
              </a:rPr>
              <a:t>météo</a:t>
            </a:r>
            <a:r>
              <a:rPr sz="1050" b="0" i="0" dirty="0">
                <a:solidFill>
                  <a:srgbClr val="94A3B8"/>
                </a:solidFill>
              </a:rPr>
              <a:t> </a:t>
            </a:r>
            <a:r>
              <a:rPr sz="1050" b="0" i="0" dirty="0" err="1">
                <a:solidFill>
                  <a:srgbClr val="94A3B8"/>
                </a:solidFill>
              </a:rPr>
              <a:t>payant</a:t>
            </a:r>
            <a:endParaRPr sz="1050" b="0" i="0" dirty="0">
              <a:solidFill>
                <a:srgbClr val="94A3B8"/>
              </a:solidFill>
            </a:endParaRPr>
          </a:p>
        </p:txBody>
      </p:sp>
      <p:sp>
        <p:nvSpPr>
          <p:cNvPr id="22" name="TextBox 21"/>
          <p:cNvSpPr txBox="1"/>
          <p:nvPr/>
        </p:nvSpPr>
        <p:spPr>
          <a:xfrm>
            <a:off x="6400800" y="3054096"/>
            <a:ext cx="5212080" cy="253916"/>
          </a:xfrm>
          <a:prstGeom prst="rect">
            <a:avLst/>
          </a:prstGeom>
          <a:noFill/>
        </p:spPr>
        <p:txBody>
          <a:bodyPr wrap="square">
            <a:spAutoFit/>
          </a:bodyPr>
          <a:lstStyle/>
          <a:p>
            <a:pPr algn="l"/>
            <a:r>
              <a:rPr sz="1050" b="0" i="0" dirty="0">
                <a:solidFill>
                  <a:srgbClr val="94A3B8"/>
                </a:solidFill>
              </a:rPr>
              <a:t>3 </a:t>
            </a:r>
            <a:r>
              <a:rPr sz="1050" b="0" i="0" dirty="0" err="1">
                <a:solidFill>
                  <a:srgbClr val="94A3B8"/>
                </a:solidFill>
              </a:rPr>
              <a:t>indicateurs</a:t>
            </a:r>
            <a:r>
              <a:rPr sz="1050" b="0" i="0" dirty="0">
                <a:solidFill>
                  <a:srgbClr val="94A3B8"/>
                </a:solidFill>
              </a:rPr>
              <a:t> </a:t>
            </a:r>
            <a:r>
              <a:rPr sz="1050" b="0" i="0" dirty="0" err="1">
                <a:solidFill>
                  <a:srgbClr val="94A3B8"/>
                </a:solidFill>
              </a:rPr>
              <a:t>clés</a:t>
            </a:r>
            <a:r>
              <a:rPr sz="1050" b="0" i="0" dirty="0">
                <a:solidFill>
                  <a:srgbClr val="94A3B8"/>
                </a:solidFill>
              </a:rPr>
              <a:t> — </a:t>
            </a:r>
            <a:r>
              <a:rPr sz="1050" b="0" i="0" dirty="0" err="1">
                <a:solidFill>
                  <a:srgbClr val="94A3B8"/>
                </a:solidFill>
              </a:rPr>
              <a:t>température</a:t>
            </a:r>
            <a:r>
              <a:rPr sz="1050" b="0" i="0" dirty="0">
                <a:solidFill>
                  <a:srgbClr val="94A3B8"/>
                </a:solidFill>
              </a:rPr>
              <a:t>, </a:t>
            </a:r>
            <a:r>
              <a:rPr sz="1050" b="0" i="0" dirty="0" err="1">
                <a:solidFill>
                  <a:srgbClr val="94A3B8"/>
                </a:solidFill>
              </a:rPr>
              <a:t>pluie</a:t>
            </a:r>
            <a:r>
              <a:rPr sz="1050" b="0" i="0" dirty="0">
                <a:solidFill>
                  <a:srgbClr val="94A3B8"/>
                </a:solidFill>
              </a:rPr>
              <a:t>, condition</a:t>
            </a:r>
          </a:p>
        </p:txBody>
      </p:sp>
      <p:sp>
        <p:nvSpPr>
          <p:cNvPr id="23" name="TextBox 22"/>
          <p:cNvSpPr txBox="1"/>
          <p:nvPr/>
        </p:nvSpPr>
        <p:spPr>
          <a:xfrm>
            <a:off x="6400800" y="3438144"/>
            <a:ext cx="5212080" cy="253916"/>
          </a:xfrm>
          <a:prstGeom prst="rect">
            <a:avLst/>
          </a:prstGeom>
          <a:noFill/>
        </p:spPr>
        <p:txBody>
          <a:bodyPr wrap="square">
            <a:spAutoFit/>
          </a:bodyPr>
          <a:lstStyle/>
          <a:p>
            <a:pPr algn="l"/>
            <a:r>
              <a:rPr sz="1050" b="0" i="0" dirty="0">
                <a:solidFill>
                  <a:srgbClr val="94A3B8"/>
                </a:solidFill>
              </a:rPr>
              <a:t>Configurable — URL </a:t>
            </a:r>
            <a:r>
              <a:rPr sz="1050" b="0" i="0" dirty="0" err="1">
                <a:solidFill>
                  <a:srgbClr val="94A3B8"/>
                </a:solidFill>
              </a:rPr>
              <a:t>définie</a:t>
            </a:r>
            <a:r>
              <a:rPr sz="1050" b="0" i="0" dirty="0">
                <a:solidFill>
                  <a:srgbClr val="94A3B8"/>
                </a:solidFill>
              </a:rPr>
              <a:t> dans .env</a:t>
            </a:r>
          </a:p>
        </p:txBody>
      </p:sp>
      <p:sp>
        <p:nvSpPr>
          <p:cNvPr id="24" name="TextBox 23"/>
          <p:cNvSpPr txBox="1"/>
          <p:nvPr/>
        </p:nvSpPr>
        <p:spPr>
          <a:xfrm>
            <a:off x="6400800" y="3822191"/>
            <a:ext cx="5212080" cy="253916"/>
          </a:xfrm>
          <a:prstGeom prst="rect">
            <a:avLst/>
          </a:prstGeom>
          <a:noFill/>
        </p:spPr>
        <p:txBody>
          <a:bodyPr wrap="square">
            <a:spAutoFit/>
          </a:bodyPr>
          <a:lstStyle/>
          <a:p>
            <a:pPr algn="l"/>
            <a:r>
              <a:rPr sz="1050" b="0" i="0" dirty="0" err="1">
                <a:solidFill>
                  <a:srgbClr val="94A3B8"/>
                </a:solidFill>
              </a:rPr>
              <a:t>Résilient</a:t>
            </a:r>
            <a:r>
              <a:rPr sz="1050" b="0" i="0" dirty="0">
                <a:solidFill>
                  <a:srgbClr val="94A3B8"/>
                </a:solidFill>
              </a:rPr>
              <a:t> — </a:t>
            </a:r>
            <a:r>
              <a:rPr sz="1050" b="0" i="0" dirty="0" err="1">
                <a:solidFill>
                  <a:srgbClr val="94A3B8"/>
                </a:solidFill>
              </a:rPr>
              <a:t>sauvegarde</a:t>
            </a:r>
            <a:r>
              <a:rPr sz="1050" b="0" i="0" dirty="0">
                <a:solidFill>
                  <a:srgbClr val="94A3B8"/>
                </a:solidFill>
              </a:rPr>
              <a:t> </a:t>
            </a:r>
            <a:r>
              <a:rPr sz="1050" b="0" i="0" dirty="0" err="1">
                <a:solidFill>
                  <a:srgbClr val="94A3B8"/>
                </a:solidFill>
              </a:rPr>
              <a:t>même</a:t>
            </a:r>
            <a:r>
              <a:rPr sz="1050" b="0" i="0" dirty="0">
                <a:solidFill>
                  <a:srgbClr val="94A3B8"/>
                </a:solidFill>
              </a:rPr>
              <a:t> </a:t>
            </a:r>
            <a:r>
              <a:rPr sz="1050" b="0" i="0" dirty="0" err="1">
                <a:solidFill>
                  <a:srgbClr val="94A3B8"/>
                </a:solidFill>
              </a:rPr>
              <a:t>en</a:t>
            </a:r>
            <a:r>
              <a:rPr sz="1050" b="0" i="0" dirty="0">
                <a:solidFill>
                  <a:srgbClr val="94A3B8"/>
                </a:solidFill>
              </a:rPr>
              <a:t> </a:t>
            </a:r>
            <a:r>
              <a:rPr sz="1050" b="0" i="0" dirty="0" err="1">
                <a:solidFill>
                  <a:srgbClr val="94A3B8"/>
                </a:solidFill>
              </a:rPr>
              <a:t>cas</a:t>
            </a:r>
            <a:r>
              <a:rPr sz="1050" b="0" i="0" dirty="0">
                <a:solidFill>
                  <a:srgbClr val="94A3B8"/>
                </a:solidFill>
              </a:rPr>
              <a:t> </a:t>
            </a:r>
            <a:r>
              <a:rPr sz="1050" b="0" i="0" dirty="0" err="1">
                <a:solidFill>
                  <a:srgbClr val="94A3B8"/>
                </a:solidFill>
              </a:rPr>
              <a:t>d'erreur</a:t>
            </a:r>
            <a:r>
              <a:rPr sz="1050" b="0" i="0" dirty="0">
                <a:solidFill>
                  <a:srgbClr val="94A3B8"/>
                </a:solidFill>
              </a:rPr>
              <a:t> réseau</a:t>
            </a:r>
          </a:p>
        </p:txBody>
      </p:sp>
      <p:sp>
        <p:nvSpPr>
          <p:cNvPr id="25" name="TextBox 24"/>
          <p:cNvSpPr txBox="1"/>
          <p:nvPr/>
        </p:nvSpPr>
        <p:spPr>
          <a:xfrm>
            <a:off x="6400800" y="4187952"/>
            <a:ext cx="5212080" cy="457200"/>
          </a:xfrm>
          <a:prstGeom prst="rect">
            <a:avLst/>
          </a:prstGeom>
          <a:noFill/>
        </p:spPr>
        <p:txBody>
          <a:bodyPr wrap="square">
            <a:spAutoFit/>
          </a:bodyPr>
          <a:lstStyle/>
          <a:p>
            <a:pPr algn="l"/>
            <a:r>
              <a:rPr sz="900" b="0" i="0">
                <a:solidFill>
                  <a:srgbClr val="A78BFA"/>
                </a:solidFill>
              </a:rPr>
              <a:t>Extraction via sélecteur CSS #day-table
Matching heure courante ↔ colonne tableau horaire</a:t>
            </a:r>
          </a:p>
        </p:txBody>
      </p:sp>
      <p:sp>
        <p:nvSpPr>
          <p:cNvPr id="26" name="Rectangle 25"/>
          <p:cNvSpPr/>
          <p:nvPr/>
        </p:nvSpPr>
        <p:spPr>
          <a:xfrm>
            <a:off x="457200" y="4754880"/>
            <a:ext cx="11292840" cy="164592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4828032"/>
            <a:ext cx="5486400" cy="292608"/>
          </a:xfrm>
          <a:prstGeom prst="rect">
            <a:avLst/>
          </a:prstGeom>
          <a:noFill/>
        </p:spPr>
        <p:txBody>
          <a:bodyPr wrap="square">
            <a:spAutoFit/>
          </a:bodyPr>
          <a:lstStyle/>
          <a:p>
            <a:pPr algn="l"/>
            <a:r>
              <a:rPr sz="1100" b="1" i="0">
                <a:solidFill>
                  <a:srgbClr val="F8FAFC"/>
                </a:solidFill>
              </a:rPr>
              <a:t>Pourquoi pas une API météo commerciale ?</a:t>
            </a:r>
          </a:p>
        </p:txBody>
      </p:sp>
      <p:sp>
        <p:nvSpPr>
          <p:cNvPr id="28" name="TextBox 27"/>
          <p:cNvSpPr txBox="1"/>
          <p:nvPr/>
        </p:nvSpPr>
        <p:spPr>
          <a:xfrm>
            <a:off x="685800" y="5166360"/>
            <a:ext cx="2834640" cy="256032"/>
          </a:xfrm>
          <a:prstGeom prst="rect">
            <a:avLst/>
          </a:prstGeom>
          <a:noFill/>
        </p:spPr>
        <p:txBody>
          <a:bodyPr wrap="square">
            <a:spAutoFit/>
          </a:bodyPr>
          <a:lstStyle/>
          <a:p>
            <a:pPr algn="l"/>
            <a:r>
              <a:rPr sz="950" b="1" i="0">
                <a:solidFill>
                  <a:srgbClr val="94A3B8"/>
                </a:solidFill>
              </a:rPr>
              <a:t>Critère</a:t>
            </a:r>
          </a:p>
        </p:txBody>
      </p:sp>
      <p:sp>
        <p:nvSpPr>
          <p:cNvPr id="29" name="TextBox 28"/>
          <p:cNvSpPr txBox="1"/>
          <p:nvPr/>
        </p:nvSpPr>
        <p:spPr>
          <a:xfrm>
            <a:off x="3520440" y="5166360"/>
            <a:ext cx="3566160" cy="256032"/>
          </a:xfrm>
          <a:prstGeom prst="rect">
            <a:avLst/>
          </a:prstGeom>
          <a:noFill/>
        </p:spPr>
        <p:txBody>
          <a:bodyPr wrap="square">
            <a:spAutoFit/>
          </a:bodyPr>
          <a:lstStyle/>
          <a:p>
            <a:pPr algn="l"/>
            <a:r>
              <a:rPr sz="950" b="1" i="0">
                <a:solidFill>
                  <a:srgbClr val="94A3B8"/>
                </a:solidFill>
              </a:rPr>
              <a:t>API météo payante</a:t>
            </a:r>
          </a:p>
        </p:txBody>
      </p:sp>
      <p:sp>
        <p:nvSpPr>
          <p:cNvPr id="30" name="TextBox 29"/>
          <p:cNvSpPr txBox="1"/>
          <p:nvPr/>
        </p:nvSpPr>
        <p:spPr>
          <a:xfrm>
            <a:off x="7086600" y="5166360"/>
            <a:ext cx="3566160" cy="256032"/>
          </a:xfrm>
          <a:prstGeom prst="rect">
            <a:avLst/>
          </a:prstGeom>
          <a:noFill/>
        </p:spPr>
        <p:txBody>
          <a:bodyPr wrap="square">
            <a:spAutoFit/>
          </a:bodyPr>
          <a:lstStyle/>
          <a:p>
            <a:pPr algn="l"/>
            <a:r>
              <a:rPr sz="950" b="1" i="0">
                <a:solidFill>
                  <a:srgbClr val="94A3B8"/>
                </a:solidFill>
              </a:rPr>
              <a:t>Scraping MeteoArt</a:t>
            </a:r>
          </a:p>
        </p:txBody>
      </p:sp>
      <p:sp>
        <p:nvSpPr>
          <p:cNvPr id="31" name="TextBox 30"/>
          <p:cNvSpPr txBox="1"/>
          <p:nvPr/>
        </p:nvSpPr>
        <p:spPr>
          <a:xfrm>
            <a:off x="685800" y="5458968"/>
            <a:ext cx="2834640" cy="256032"/>
          </a:xfrm>
          <a:prstGeom prst="rect">
            <a:avLst/>
          </a:prstGeom>
          <a:noFill/>
        </p:spPr>
        <p:txBody>
          <a:bodyPr wrap="square">
            <a:spAutoFit/>
          </a:bodyPr>
          <a:lstStyle/>
          <a:p>
            <a:pPr algn="l"/>
            <a:r>
              <a:rPr sz="950" b="0" i="0">
                <a:solidFill>
                  <a:srgbClr val="94A3B8"/>
                </a:solidFill>
              </a:rPr>
              <a:t>Coût</a:t>
            </a:r>
          </a:p>
        </p:txBody>
      </p:sp>
      <p:sp>
        <p:nvSpPr>
          <p:cNvPr id="32" name="TextBox 31"/>
          <p:cNvSpPr txBox="1"/>
          <p:nvPr/>
        </p:nvSpPr>
        <p:spPr>
          <a:xfrm>
            <a:off x="3520440" y="5458968"/>
            <a:ext cx="3566160" cy="256032"/>
          </a:xfrm>
          <a:prstGeom prst="rect">
            <a:avLst/>
          </a:prstGeom>
          <a:noFill/>
        </p:spPr>
        <p:txBody>
          <a:bodyPr wrap="square">
            <a:spAutoFit/>
          </a:bodyPr>
          <a:lstStyle/>
          <a:p>
            <a:pPr algn="l"/>
            <a:r>
              <a:rPr sz="950" b="0" i="0">
                <a:solidFill>
                  <a:srgbClr val="EF4444"/>
                </a:solidFill>
              </a:rPr>
              <a:t>Abonnement mensuel ✗</a:t>
            </a:r>
          </a:p>
        </p:txBody>
      </p:sp>
      <p:sp>
        <p:nvSpPr>
          <p:cNvPr id="33" name="TextBox 32"/>
          <p:cNvSpPr txBox="1"/>
          <p:nvPr/>
        </p:nvSpPr>
        <p:spPr>
          <a:xfrm>
            <a:off x="7086600" y="5458968"/>
            <a:ext cx="3566160" cy="256032"/>
          </a:xfrm>
          <a:prstGeom prst="rect">
            <a:avLst/>
          </a:prstGeom>
          <a:noFill/>
        </p:spPr>
        <p:txBody>
          <a:bodyPr wrap="square">
            <a:spAutoFit/>
          </a:bodyPr>
          <a:lstStyle/>
          <a:p>
            <a:pPr algn="l"/>
            <a:r>
              <a:rPr sz="950" b="0" i="0">
                <a:solidFill>
                  <a:srgbClr val="22C55E"/>
                </a:solidFill>
              </a:rPr>
              <a:t>Gratuit ✓</a:t>
            </a:r>
          </a:p>
        </p:txBody>
      </p:sp>
      <p:sp>
        <p:nvSpPr>
          <p:cNvPr id="34" name="TextBox 33"/>
          <p:cNvSpPr txBox="1"/>
          <p:nvPr/>
        </p:nvSpPr>
        <p:spPr>
          <a:xfrm>
            <a:off x="685800" y="5733288"/>
            <a:ext cx="2834640" cy="256032"/>
          </a:xfrm>
          <a:prstGeom prst="rect">
            <a:avLst/>
          </a:prstGeom>
          <a:noFill/>
        </p:spPr>
        <p:txBody>
          <a:bodyPr wrap="square">
            <a:spAutoFit/>
          </a:bodyPr>
          <a:lstStyle/>
          <a:p>
            <a:pPr algn="l"/>
            <a:r>
              <a:rPr sz="950" b="0" i="0">
                <a:solidFill>
                  <a:srgbClr val="94A3B8"/>
                </a:solidFill>
              </a:rPr>
              <a:t>Clé API requise</a:t>
            </a:r>
          </a:p>
        </p:txBody>
      </p:sp>
      <p:sp>
        <p:nvSpPr>
          <p:cNvPr id="35" name="TextBox 34"/>
          <p:cNvSpPr txBox="1"/>
          <p:nvPr/>
        </p:nvSpPr>
        <p:spPr>
          <a:xfrm>
            <a:off x="3520440" y="5733288"/>
            <a:ext cx="3566160" cy="256032"/>
          </a:xfrm>
          <a:prstGeom prst="rect">
            <a:avLst/>
          </a:prstGeom>
          <a:noFill/>
        </p:spPr>
        <p:txBody>
          <a:bodyPr wrap="square">
            <a:spAutoFit/>
          </a:bodyPr>
          <a:lstStyle/>
          <a:p>
            <a:pPr algn="l"/>
            <a:r>
              <a:rPr sz="950" b="0" i="0">
                <a:solidFill>
                  <a:srgbClr val="EF4444"/>
                </a:solidFill>
              </a:rPr>
              <a:t>Oui ✗</a:t>
            </a:r>
          </a:p>
        </p:txBody>
      </p:sp>
      <p:sp>
        <p:nvSpPr>
          <p:cNvPr id="36" name="TextBox 35"/>
          <p:cNvSpPr txBox="1"/>
          <p:nvPr/>
        </p:nvSpPr>
        <p:spPr>
          <a:xfrm>
            <a:off x="7086600" y="5733288"/>
            <a:ext cx="3566160" cy="256032"/>
          </a:xfrm>
          <a:prstGeom prst="rect">
            <a:avLst/>
          </a:prstGeom>
          <a:noFill/>
        </p:spPr>
        <p:txBody>
          <a:bodyPr wrap="square">
            <a:spAutoFit/>
          </a:bodyPr>
          <a:lstStyle/>
          <a:p>
            <a:pPr algn="l"/>
            <a:r>
              <a:rPr sz="950" b="0" i="0">
                <a:solidFill>
                  <a:srgbClr val="22C55E"/>
                </a:solidFill>
              </a:rPr>
              <a:t>Non ✓</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05 · STACK TECHNIQUE</a:t>
            </a:r>
          </a:p>
        </p:txBody>
      </p:sp>
      <p:sp>
        <p:nvSpPr>
          <p:cNvPr id="3" name="TextBox 2"/>
          <p:cNvSpPr txBox="1"/>
          <p:nvPr/>
        </p:nvSpPr>
        <p:spPr>
          <a:xfrm>
            <a:off x="457200" y="548640"/>
            <a:ext cx="9144000" cy="594360"/>
          </a:xfrm>
          <a:prstGeom prst="rect">
            <a:avLst/>
          </a:prstGeom>
          <a:noFill/>
        </p:spPr>
        <p:txBody>
          <a:bodyPr wrap="square">
            <a:spAutoFit/>
          </a:bodyPr>
          <a:lstStyle/>
          <a:p>
            <a:pPr algn="l"/>
            <a:r>
              <a:rPr sz="2800" b="1" i="0">
                <a:solidFill>
                  <a:srgbClr val="F8FAFC"/>
                </a:solidFill>
              </a:rPr>
              <a:t>Technologies utilisées</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630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572768"/>
            <a:ext cx="1792224" cy="292608"/>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09344"/>
            <a:ext cx="1645920" cy="237744"/>
          </a:xfrm>
          <a:prstGeom prst="rect">
            <a:avLst/>
          </a:prstGeom>
          <a:noFill/>
        </p:spPr>
        <p:txBody>
          <a:bodyPr wrap="square">
            <a:spAutoFit/>
          </a:bodyPr>
          <a:lstStyle/>
          <a:p>
            <a:pPr algn="ctr"/>
            <a:r>
              <a:rPr sz="900" b="1" i="0">
                <a:solidFill>
                  <a:srgbClr val="38BDF8"/>
                </a:solidFill>
              </a:rPr>
              <a:t>Collecte &amp; Parsing</a:t>
            </a:r>
          </a:p>
        </p:txBody>
      </p:sp>
      <p:sp>
        <p:nvSpPr>
          <p:cNvPr id="9" name="TextBox 8"/>
          <p:cNvSpPr txBox="1"/>
          <p:nvPr/>
        </p:nvSpPr>
        <p:spPr>
          <a:xfrm>
            <a:off x="621792" y="1965960"/>
            <a:ext cx="3383280" cy="237744"/>
          </a:xfrm>
          <a:prstGeom prst="rect">
            <a:avLst/>
          </a:prstGeom>
          <a:noFill/>
        </p:spPr>
        <p:txBody>
          <a:bodyPr wrap="square">
            <a:spAutoFit/>
          </a:bodyPr>
          <a:lstStyle/>
          <a:p>
            <a:pPr algn="l"/>
            <a:r>
              <a:rPr sz="1100" b="1" i="0">
                <a:solidFill>
                  <a:srgbClr val="F8FAFC"/>
                </a:solidFill>
              </a:rPr>
              <a:t>Requests</a:t>
            </a:r>
          </a:p>
        </p:txBody>
      </p:sp>
      <p:sp>
        <p:nvSpPr>
          <p:cNvPr id="10" name="TextBox 9"/>
          <p:cNvSpPr txBox="1"/>
          <p:nvPr/>
        </p:nvSpPr>
        <p:spPr>
          <a:xfrm>
            <a:off x="621792" y="2185416"/>
            <a:ext cx="3383280" cy="201168"/>
          </a:xfrm>
          <a:prstGeom prst="rect">
            <a:avLst/>
          </a:prstGeom>
          <a:noFill/>
        </p:spPr>
        <p:txBody>
          <a:bodyPr wrap="square">
            <a:spAutoFit/>
          </a:bodyPr>
          <a:lstStyle/>
          <a:p>
            <a:pPr algn="l"/>
            <a:r>
              <a:rPr sz="900" b="0" i="0">
                <a:solidFill>
                  <a:srgbClr val="94A3B8"/>
                </a:solidFill>
              </a:rPr>
              <a:t>appels HTTP vers l'API REST STAR</a:t>
            </a:r>
          </a:p>
        </p:txBody>
      </p:sp>
      <p:sp>
        <p:nvSpPr>
          <p:cNvPr id="11" name="TextBox 10"/>
          <p:cNvSpPr txBox="1"/>
          <p:nvPr/>
        </p:nvSpPr>
        <p:spPr>
          <a:xfrm>
            <a:off x="621792" y="2395728"/>
            <a:ext cx="3383280" cy="237744"/>
          </a:xfrm>
          <a:prstGeom prst="rect">
            <a:avLst/>
          </a:prstGeom>
          <a:noFill/>
        </p:spPr>
        <p:txBody>
          <a:bodyPr wrap="square">
            <a:spAutoFit/>
          </a:bodyPr>
          <a:lstStyle/>
          <a:p>
            <a:pPr algn="l"/>
            <a:r>
              <a:rPr sz="1100" b="1" i="0">
                <a:solidFill>
                  <a:srgbClr val="F8FAFC"/>
                </a:solidFill>
              </a:rPr>
              <a:t>BeautifulSoup4</a:t>
            </a:r>
          </a:p>
        </p:txBody>
      </p:sp>
      <p:sp>
        <p:nvSpPr>
          <p:cNvPr id="12" name="TextBox 11"/>
          <p:cNvSpPr txBox="1"/>
          <p:nvPr/>
        </p:nvSpPr>
        <p:spPr>
          <a:xfrm>
            <a:off x="621792" y="2615184"/>
            <a:ext cx="3383280" cy="201168"/>
          </a:xfrm>
          <a:prstGeom prst="rect">
            <a:avLst/>
          </a:prstGeom>
          <a:noFill/>
        </p:spPr>
        <p:txBody>
          <a:bodyPr wrap="square">
            <a:spAutoFit/>
          </a:bodyPr>
          <a:lstStyle/>
          <a:p>
            <a:pPr algn="l"/>
            <a:r>
              <a:rPr sz="900" b="0" i="0">
                <a:solidFill>
                  <a:srgbClr val="94A3B8"/>
                </a:solidFill>
              </a:rPr>
              <a:t>parsing HTML de la page météo</a:t>
            </a:r>
          </a:p>
        </p:txBody>
      </p:sp>
      <p:sp>
        <p:nvSpPr>
          <p:cNvPr id="13" name="TextBox 12"/>
          <p:cNvSpPr txBox="1"/>
          <p:nvPr/>
        </p:nvSpPr>
        <p:spPr>
          <a:xfrm>
            <a:off x="621792" y="2825496"/>
            <a:ext cx="3383280" cy="237744"/>
          </a:xfrm>
          <a:prstGeom prst="rect">
            <a:avLst/>
          </a:prstGeom>
          <a:noFill/>
        </p:spPr>
        <p:txBody>
          <a:bodyPr wrap="square">
            <a:spAutoFit/>
          </a:bodyPr>
          <a:lstStyle/>
          <a:p>
            <a:pPr algn="l"/>
            <a:r>
              <a:rPr sz="1100" b="1" i="0">
                <a:solidFill>
                  <a:srgbClr val="F8FAFC"/>
                </a:solidFill>
              </a:rPr>
              <a:t>Pandas</a:t>
            </a:r>
          </a:p>
        </p:txBody>
      </p:sp>
      <p:sp>
        <p:nvSpPr>
          <p:cNvPr id="14" name="TextBox 13"/>
          <p:cNvSpPr txBox="1"/>
          <p:nvPr/>
        </p:nvSpPr>
        <p:spPr>
          <a:xfrm>
            <a:off x="621792" y="3044952"/>
            <a:ext cx="3383280" cy="201168"/>
          </a:xfrm>
          <a:prstGeom prst="rect">
            <a:avLst/>
          </a:prstGeom>
          <a:noFill/>
        </p:spPr>
        <p:txBody>
          <a:bodyPr wrap="square">
            <a:spAutoFit/>
          </a:bodyPr>
          <a:lstStyle/>
          <a:p>
            <a:pPr algn="l"/>
            <a:r>
              <a:rPr sz="900" b="0" i="0">
                <a:solidFill>
                  <a:srgbClr val="94A3B8"/>
                </a:solidFill>
              </a:rPr>
              <a:t>sérialisation Parquet des données brutes</a:t>
            </a:r>
          </a:p>
        </p:txBody>
      </p:sp>
      <p:sp>
        <p:nvSpPr>
          <p:cNvPr id="15" name="Rectangle 14"/>
          <p:cNvSpPr/>
          <p:nvPr/>
        </p:nvSpPr>
        <p:spPr>
          <a:xfrm>
            <a:off x="4462272" y="14630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0" y="1572768"/>
            <a:ext cx="1097280" cy="292608"/>
          </a:xfrm>
          <a:prstGeom prst="rect">
            <a:avLst/>
          </a:prstGeom>
          <a:solidFill>
            <a:srgbClr val="1E293B"/>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45152" y="1609344"/>
            <a:ext cx="950976" cy="237744"/>
          </a:xfrm>
          <a:prstGeom prst="rect">
            <a:avLst/>
          </a:prstGeom>
          <a:noFill/>
        </p:spPr>
        <p:txBody>
          <a:bodyPr wrap="square">
            <a:spAutoFit/>
          </a:bodyPr>
          <a:lstStyle/>
          <a:p>
            <a:pPr algn="ctr"/>
            <a:r>
              <a:rPr sz="900" b="1" i="0">
                <a:solidFill>
                  <a:srgbClr val="22C55E"/>
                </a:solidFill>
              </a:rPr>
              <a:t>Traitement</a:t>
            </a:r>
          </a:p>
        </p:txBody>
      </p:sp>
      <p:sp>
        <p:nvSpPr>
          <p:cNvPr id="18" name="TextBox 17"/>
          <p:cNvSpPr txBox="1"/>
          <p:nvPr/>
        </p:nvSpPr>
        <p:spPr>
          <a:xfrm>
            <a:off x="4626864" y="1965960"/>
            <a:ext cx="3383280" cy="237744"/>
          </a:xfrm>
          <a:prstGeom prst="rect">
            <a:avLst/>
          </a:prstGeom>
          <a:noFill/>
        </p:spPr>
        <p:txBody>
          <a:bodyPr wrap="square">
            <a:spAutoFit/>
          </a:bodyPr>
          <a:lstStyle/>
          <a:p>
            <a:pPr algn="l"/>
            <a:r>
              <a:rPr sz="1100" b="1" i="0">
                <a:solidFill>
                  <a:srgbClr val="F8FAFC"/>
                </a:solidFill>
              </a:rPr>
              <a:t>PySpark</a:t>
            </a:r>
          </a:p>
        </p:txBody>
      </p:sp>
      <p:sp>
        <p:nvSpPr>
          <p:cNvPr id="19" name="TextBox 18"/>
          <p:cNvSpPr txBox="1"/>
          <p:nvPr/>
        </p:nvSpPr>
        <p:spPr>
          <a:xfrm>
            <a:off x="4626864" y="2185416"/>
            <a:ext cx="3383280" cy="201168"/>
          </a:xfrm>
          <a:prstGeom prst="rect">
            <a:avLst/>
          </a:prstGeom>
          <a:noFill/>
        </p:spPr>
        <p:txBody>
          <a:bodyPr wrap="square">
            <a:spAutoFit/>
          </a:bodyPr>
          <a:lstStyle/>
          <a:p>
            <a:pPr algn="l"/>
            <a:r>
              <a:rPr sz="900" b="0" i="0">
                <a:solidFill>
                  <a:srgbClr val="94A3B8"/>
                </a:solidFill>
              </a:rPr>
              <a:t>nettoyage et transformation distribuée</a:t>
            </a:r>
          </a:p>
        </p:txBody>
      </p:sp>
      <p:sp>
        <p:nvSpPr>
          <p:cNvPr id="20" name="TextBox 19"/>
          <p:cNvSpPr txBox="1"/>
          <p:nvPr/>
        </p:nvSpPr>
        <p:spPr>
          <a:xfrm>
            <a:off x="4626864" y="2395728"/>
            <a:ext cx="3383280" cy="237744"/>
          </a:xfrm>
          <a:prstGeom prst="rect">
            <a:avLst/>
          </a:prstGeom>
          <a:noFill/>
        </p:spPr>
        <p:txBody>
          <a:bodyPr wrap="square">
            <a:spAutoFit/>
          </a:bodyPr>
          <a:lstStyle/>
          <a:p>
            <a:pPr algn="l"/>
            <a:r>
              <a:rPr sz="1100" b="1" i="0">
                <a:solidFill>
                  <a:srgbClr val="F8FAFC"/>
                </a:solidFill>
              </a:rPr>
              <a:t>Pandas</a:t>
            </a:r>
          </a:p>
        </p:txBody>
      </p:sp>
      <p:sp>
        <p:nvSpPr>
          <p:cNvPr id="21" name="TextBox 20"/>
          <p:cNvSpPr txBox="1"/>
          <p:nvPr/>
        </p:nvSpPr>
        <p:spPr>
          <a:xfrm>
            <a:off x="4626864" y="2615184"/>
            <a:ext cx="3383280" cy="201168"/>
          </a:xfrm>
          <a:prstGeom prst="rect">
            <a:avLst/>
          </a:prstGeom>
          <a:noFill/>
        </p:spPr>
        <p:txBody>
          <a:bodyPr wrap="square">
            <a:spAutoFit/>
          </a:bodyPr>
          <a:lstStyle/>
          <a:p>
            <a:pPr algn="l"/>
            <a:r>
              <a:rPr sz="900" b="0" i="0">
                <a:solidFill>
                  <a:srgbClr val="94A3B8"/>
                </a:solidFill>
              </a:rPr>
              <a:t>EDA et chargement final</a:t>
            </a:r>
          </a:p>
        </p:txBody>
      </p:sp>
      <p:sp>
        <p:nvSpPr>
          <p:cNvPr id="22" name="TextBox 21"/>
          <p:cNvSpPr txBox="1"/>
          <p:nvPr/>
        </p:nvSpPr>
        <p:spPr>
          <a:xfrm>
            <a:off x="4626864" y="2825496"/>
            <a:ext cx="3383280" cy="237744"/>
          </a:xfrm>
          <a:prstGeom prst="rect">
            <a:avLst/>
          </a:prstGeom>
          <a:noFill/>
        </p:spPr>
        <p:txBody>
          <a:bodyPr wrap="square">
            <a:spAutoFit/>
          </a:bodyPr>
          <a:lstStyle/>
          <a:p>
            <a:pPr algn="l"/>
            <a:r>
              <a:rPr sz="1100" b="1" i="0">
                <a:solidFill>
                  <a:srgbClr val="F8FAFC"/>
                </a:solidFill>
              </a:rPr>
              <a:t>PyArrow</a:t>
            </a:r>
          </a:p>
        </p:txBody>
      </p:sp>
      <p:sp>
        <p:nvSpPr>
          <p:cNvPr id="23" name="TextBox 22"/>
          <p:cNvSpPr txBox="1"/>
          <p:nvPr/>
        </p:nvSpPr>
        <p:spPr>
          <a:xfrm>
            <a:off x="4626864" y="3044952"/>
            <a:ext cx="3383280" cy="201168"/>
          </a:xfrm>
          <a:prstGeom prst="rect">
            <a:avLst/>
          </a:prstGeom>
          <a:noFill/>
        </p:spPr>
        <p:txBody>
          <a:bodyPr wrap="square">
            <a:spAutoFit/>
          </a:bodyPr>
          <a:lstStyle/>
          <a:p>
            <a:pPr algn="l"/>
            <a:r>
              <a:rPr sz="900" b="0" i="0">
                <a:solidFill>
                  <a:srgbClr val="94A3B8"/>
                </a:solidFill>
              </a:rPr>
              <a:t>format Parquet columnar performant</a:t>
            </a:r>
          </a:p>
        </p:txBody>
      </p:sp>
      <p:sp>
        <p:nvSpPr>
          <p:cNvPr id="24" name="Rectangle 23"/>
          <p:cNvSpPr/>
          <p:nvPr/>
        </p:nvSpPr>
        <p:spPr>
          <a:xfrm>
            <a:off x="8467344" y="14630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577072" y="1572768"/>
            <a:ext cx="1005840" cy="292608"/>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50224" y="1609344"/>
            <a:ext cx="859536" cy="237744"/>
          </a:xfrm>
          <a:prstGeom prst="rect">
            <a:avLst/>
          </a:prstGeom>
          <a:noFill/>
        </p:spPr>
        <p:txBody>
          <a:bodyPr wrap="square">
            <a:spAutoFit/>
          </a:bodyPr>
          <a:lstStyle/>
          <a:p>
            <a:pPr algn="ctr"/>
            <a:r>
              <a:rPr sz="900" b="1" i="0">
                <a:solidFill>
                  <a:srgbClr val="F59E0B"/>
                </a:solidFill>
              </a:rPr>
              <a:t>Stockage</a:t>
            </a:r>
          </a:p>
        </p:txBody>
      </p:sp>
      <p:sp>
        <p:nvSpPr>
          <p:cNvPr id="27" name="TextBox 26"/>
          <p:cNvSpPr txBox="1"/>
          <p:nvPr/>
        </p:nvSpPr>
        <p:spPr>
          <a:xfrm>
            <a:off x="8631936" y="1965960"/>
            <a:ext cx="3383280" cy="237744"/>
          </a:xfrm>
          <a:prstGeom prst="rect">
            <a:avLst/>
          </a:prstGeom>
          <a:noFill/>
        </p:spPr>
        <p:txBody>
          <a:bodyPr wrap="square">
            <a:spAutoFit/>
          </a:bodyPr>
          <a:lstStyle/>
          <a:p>
            <a:pPr algn="l"/>
            <a:r>
              <a:rPr sz="1100" b="1" i="0">
                <a:solidFill>
                  <a:srgbClr val="F8FAFC"/>
                </a:solidFill>
              </a:rPr>
              <a:t>PostgreSQL</a:t>
            </a:r>
          </a:p>
        </p:txBody>
      </p:sp>
      <p:sp>
        <p:nvSpPr>
          <p:cNvPr id="28" name="TextBox 27"/>
          <p:cNvSpPr txBox="1"/>
          <p:nvPr/>
        </p:nvSpPr>
        <p:spPr>
          <a:xfrm>
            <a:off x="8631936" y="2185416"/>
            <a:ext cx="3383280" cy="201168"/>
          </a:xfrm>
          <a:prstGeom prst="rect">
            <a:avLst/>
          </a:prstGeom>
          <a:noFill/>
        </p:spPr>
        <p:txBody>
          <a:bodyPr wrap="square">
            <a:spAutoFit/>
          </a:bodyPr>
          <a:lstStyle/>
          <a:p>
            <a:pPr algn="l"/>
            <a:r>
              <a:rPr sz="900" b="0" i="0">
                <a:solidFill>
                  <a:srgbClr val="94A3B8"/>
                </a:solidFill>
              </a:rPr>
              <a:t>entrepôt structuré (conteneur Docker)</a:t>
            </a:r>
          </a:p>
        </p:txBody>
      </p:sp>
      <p:sp>
        <p:nvSpPr>
          <p:cNvPr id="29" name="TextBox 28"/>
          <p:cNvSpPr txBox="1"/>
          <p:nvPr/>
        </p:nvSpPr>
        <p:spPr>
          <a:xfrm>
            <a:off x="8631936" y="2395728"/>
            <a:ext cx="3383280" cy="237744"/>
          </a:xfrm>
          <a:prstGeom prst="rect">
            <a:avLst/>
          </a:prstGeom>
          <a:noFill/>
        </p:spPr>
        <p:txBody>
          <a:bodyPr wrap="square">
            <a:spAutoFit/>
          </a:bodyPr>
          <a:lstStyle/>
          <a:p>
            <a:pPr algn="l"/>
            <a:r>
              <a:rPr sz="1100" b="1" i="0">
                <a:solidFill>
                  <a:srgbClr val="F8FAFC"/>
                </a:solidFill>
              </a:rPr>
              <a:t>SQLAlchemy/pg8000</a:t>
            </a:r>
          </a:p>
        </p:txBody>
      </p:sp>
      <p:sp>
        <p:nvSpPr>
          <p:cNvPr id="30" name="TextBox 29"/>
          <p:cNvSpPr txBox="1"/>
          <p:nvPr/>
        </p:nvSpPr>
        <p:spPr>
          <a:xfrm>
            <a:off x="8631936" y="2615184"/>
            <a:ext cx="3383280" cy="201168"/>
          </a:xfrm>
          <a:prstGeom prst="rect">
            <a:avLst/>
          </a:prstGeom>
          <a:noFill/>
        </p:spPr>
        <p:txBody>
          <a:bodyPr wrap="square">
            <a:spAutoFit/>
          </a:bodyPr>
          <a:lstStyle/>
          <a:p>
            <a:pPr algn="l"/>
            <a:r>
              <a:rPr sz="900" b="0" i="0">
                <a:solidFill>
                  <a:srgbClr val="94A3B8"/>
                </a:solidFill>
              </a:rPr>
              <a:t>ORM &amp; connecteur Python</a:t>
            </a:r>
          </a:p>
        </p:txBody>
      </p:sp>
      <p:sp>
        <p:nvSpPr>
          <p:cNvPr id="31" name="TextBox 30"/>
          <p:cNvSpPr txBox="1"/>
          <p:nvPr/>
        </p:nvSpPr>
        <p:spPr>
          <a:xfrm>
            <a:off x="8631936" y="2825496"/>
            <a:ext cx="3383280" cy="237744"/>
          </a:xfrm>
          <a:prstGeom prst="rect">
            <a:avLst/>
          </a:prstGeom>
          <a:noFill/>
        </p:spPr>
        <p:txBody>
          <a:bodyPr wrap="square">
            <a:spAutoFit/>
          </a:bodyPr>
          <a:lstStyle/>
          <a:p>
            <a:pPr algn="l"/>
            <a:r>
              <a:rPr sz="1100" b="1" i="0">
                <a:solidFill>
                  <a:srgbClr val="F8FAFC"/>
                </a:solidFill>
              </a:rPr>
              <a:t>Parquet local</a:t>
            </a:r>
          </a:p>
        </p:txBody>
      </p:sp>
      <p:sp>
        <p:nvSpPr>
          <p:cNvPr id="32" name="TextBox 31"/>
          <p:cNvSpPr txBox="1"/>
          <p:nvPr/>
        </p:nvSpPr>
        <p:spPr>
          <a:xfrm>
            <a:off x="8631936" y="3044952"/>
            <a:ext cx="3383280" cy="201168"/>
          </a:xfrm>
          <a:prstGeom prst="rect">
            <a:avLst/>
          </a:prstGeom>
          <a:noFill/>
        </p:spPr>
        <p:txBody>
          <a:bodyPr wrap="square">
            <a:spAutoFit/>
          </a:bodyPr>
          <a:lstStyle/>
          <a:p>
            <a:pPr algn="l"/>
            <a:r>
              <a:rPr sz="900" b="0" i="0">
                <a:solidFill>
                  <a:srgbClr val="94A3B8"/>
                </a:solidFill>
              </a:rPr>
              <a:t>fallback rapide sans base de données</a:t>
            </a:r>
          </a:p>
        </p:txBody>
      </p:sp>
      <p:sp>
        <p:nvSpPr>
          <p:cNvPr id="33" name="Rectangle 32"/>
          <p:cNvSpPr/>
          <p:nvPr/>
        </p:nvSpPr>
        <p:spPr>
          <a:xfrm>
            <a:off x="457200" y="35204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3630168"/>
            <a:ext cx="1357884" cy="292608"/>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3666744"/>
            <a:ext cx="1211580" cy="237744"/>
          </a:xfrm>
          <a:prstGeom prst="rect">
            <a:avLst/>
          </a:prstGeom>
          <a:noFill/>
        </p:spPr>
        <p:txBody>
          <a:bodyPr wrap="square">
            <a:spAutoFit/>
          </a:bodyPr>
          <a:lstStyle/>
          <a:p>
            <a:pPr algn="ctr"/>
            <a:r>
              <a:rPr sz="900" b="1" i="0">
                <a:solidFill>
                  <a:srgbClr val="A78BFA"/>
                </a:solidFill>
              </a:rPr>
              <a:t>Visualisation</a:t>
            </a:r>
          </a:p>
        </p:txBody>
      </p:sp>
      <p:sp>
        <p:nvSpPr>
          <p:cNvPr id="36" name="TextBox 35"/>
          <p:cNvSpPr txBox="1"/>
          <p:nvPr/>
        </p:nvSpPr>
        <p:spPr>
          <a:xfrm>
            <a:off x="621792" y="4023360"/>
            <a:ext cx="3383280" cy="237744"/>
          </a:xfrm>
          <a:prstGeom prst="rect">
            <a:avLst/>
          </a:prstGeom>
          <a:noFill/>
        </p:spPr>
        <p:txBody>
          <a:bodyPr wrap="square">
            <a:spAutoFit/>
          </a:bodyPr>
          <a:lstStyle/>
          <a:p>
            <a:pPr algn="l"/>
            <a:r>
              <a:rPr sz="1100" b="1" i="0">
                <a:solidFill>
                  <a:srgbClr val="F8FAFC"/>
                </a:solidFill>
              </a:rPr>
              <a:t>Streamlit</a:t>
            </a:r>
          </a:p>
        </p:txBody>
      </p:sp>
      <p:sp>
        <p:nvSpPr>
          <p:cNvPr id="37" name="TextBox 36"/>
          <p:cNvSpPr txBox="1"/>
          <p:nvPr/>
        </p:nvSpPr>
        <p:spPr>
          <a:xfrm>
            <a:off x="621792" y="4242816"/>
            <a:ext cx="3383280" cy="201168"/>
          </a:xfrm>
          <a:prstGeom prst="rect">
            <a:avLst/>
          </a:prstGeom>
          <a:noFill/>
        </p:spPr>
        <p:txBody>
          <a:bodyPr wrap="square">
            <a:spAutoFit/>
          </a:bodyPr>
          <a:lstStyle/>
          <a:p>
            <a:pPr algn="l"/>
            <a:r>
              <a:rPr sz="900" b="0" i="0">
                <a:solidFill>
                  <a:srgbClr val="94A3B8"/>
                </a:solidFill>
              </a:rPr>
              <a:t>framework dashboard 100% Python</a:t>
            </a:r>
          </a:p>
        </p:txBody>
      </p:sp>
      <p:sp>
        <p:nvSpPr>
          <p:cNvPr id="38" name="TextBox 37"/>
          <p:cNvSpPr txBox="1"/>
          <p:nvPr/>
        </p:nvSpPr>
        <p:spPr>
          <a:xfrm>
            <a:off x="621792" y="4453128"/>
            <a:ext cx="3383280" cy="237744"/>
          </a:xfrm>
          <a:prstGeom prst="rect">
            <a:avLst/>
          </a:prstGeom>
          <a:noFill/>
        </p:spPr>
        <p:txBody>
          <a:bodyPr wrap="square">
            <a:spAutoFit/>
          </a:bodyPr>
          <a:lstStyle/>
          <a:p>
            <a:pPr algn="l"/>
            <a:r>
              <a:rPr sz="1100" b="1" i="0">
                <a:solidFill>
                  <a:srgbClr val="F8FAFC"/>
                </a:solidFill>
              </a:rPr>
              <a:t>Plotly Express</a:t>
            </a:r>
          </a:p>
        </p:txBody>
      </p:sp>
      <p:sp>
        <p:nvSpPr>
          <p:cNvPr id="39" name="TextBox 38"/>
          <p:cNvSpPr txBox="1"/>
          <p:nvPr/>
        </p:nvSpPr>
        <p:spPr>
          <a:xfrm>
            <a:off x="621792" y="4672584"/>
            <a:ext cx="3383280" cy="201168"/>
          </a:xfrm>
          <a:prstGeom prst="rect">
            <a:avLst/>
          </a:prstGeom>
          <a:noFill/>
        </p:spPr>
        <p:txBody>
          <a:bodyPr wrap="square">
            <a:spAutoFit/>
          </a:bodyPr>
          <a:lstStyle/>
          <a:p>
            <a:pPr algn="l"/>
            <a:r>
              <a:rPr sz="900" b="0" i="0">
                <a:solidFill>
                  <a:srgbClr val="94A3B8"/>
                </a:solidFill>
              </a:rPr>
              <a:t>graphiques interactifs (barres, donut, scatter)</a:t>
            </a:r>
          </a:p>
        </p:txBody>
      </p:sp>
      <p:sp>
        <p:nvSpPr>
          <p:cNvPr id="40" name="TextBox 39"/>
          <p:cNvSpPr txBox="1"/>
          <p:nvPr/>
        </p:nvSpPr>
        <p:spPr>
          <a:xfrm>
            <a:off x="621792" y="4882896"/>
            <a:ext cx="3383280" cy="237744"/>
          </a:xfrm>
          <a:prstGeom prst="rect">
            <a:avLst/>
          </a:prstGeom>
          <a:noFill/>
        </p:spPr>
        <p:txBody>
          <a:bodyPr wrap="square">
            <a:spAutoFit/>
          </a:bodyPr>
          <a:lstStyle/>
          <a:p>
            <a:pPr algn="l"/>
            <a:r>
              <a:rPr sz="1100" b="1" i="0">
                <a:solidFill>
                  <a:srgbClr val="F8FAFC"/>
                </a:solidFill>
              </a:rPr>
              <a:t>CSS custom</a:t>
            </a:r>
          </a:p>
        </p:txBody>
      </p:sp>
      <p:sp>
        <p:nvSpPr>
          <p:cNvPr id="41" name="TextBox 40"/>
          <p:cNvSpPr txBox="1"/>
          <p:nvPr/>
        </p:nvSpPr>
        <p:spPr>
          <a:xfrm>
            <a:off x="621792" y="5102352"/>
            <a:ext cx="3383280" cy="201168"/>
          </a:xfrm>
          <a:prstGeom prst="rect">
            <a:avLst/>
          </a:prstGeom>
          <a:noFill/>
        </p:spPr>
        <p:txBody>
          <a:bodyPr wrap="square">
            <a:spAutoFit/>
          </a:bodyPr>
          <a:lstStyle/>
          <a:p>
            <a:pPr algn="l"/>
            <a:r>
              <a:rPr sz="900" b="0" i="0">
                <a:solidFill>
                  <a:srgbClr val="94A3B8"/>
                </a:solidFill>
              </a:rPr>
              <a:t>design dark glassmorphism</a:t>
            </a:r>
          </a:p>
        </p:txBody>
      </p:sp>
      <p:sp>
        <p:nvSpPr>
          <p:cNvPr id="42" name="Rectangle 41"/>
          <p:cNvSpPr/>
          <p:nvPr/>
        </p:nvSpPr>
        <p:spPr>
          <a:xfrm>
            <a:off x="4462272" y="35204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0" y="3630168"/>
            <a:ext cx="2052828" cy="292608"/>
          </a:xfrm>
          <a:prstGeom prst="rect">
            <a:avLst/>
          </a:prstGeom>
          <a:solidFill>
            <a:srgbClr val="1E293B"/>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45152" y="3666744"/>
            <a:ext cx="1906524" cy="237744"/>
          </a:xfrm>
          <a:prstGeom prst="rect">
            <a:avLst/>
          </a:prstGeom>
          <a:noFill/>
        </p:spPr>
        <p:txBody>
          <a:bodyPr wrap="square">
            <a:spAutoFit/>
          </a:bodyPr>
          <a:lstStyle/>
          <a:p>
            <a:pPr algn="ctr"/>
            <a:r>
              <a:rPr sz="900" b="1" i="0">
                <a:solidFill>
                  <a:srgbClr val="FBBF24"/>
                </a:solidFill>
              </a:rPr>
              <a:t>Infra &amp; Orchestration</a:t>
            </a:r>
          </a:p>
        </p:txBody>
      </p:sp>
      <p:sp>
        <p:nvSpPr>
          <p:cNvPr id="45" name="TextBox 44"/>
          <p:cNvSpPr txBox="1"/>
          <p:nvPr/>
        </p:nvSpPr>
        <p:spPr>
          <a:xfrm>
            <a:off x="4626864" y="4023360"/>
            <a:ext cx="3383280" cy="237744"/>
          </a:xfrm>
          <a:prstGeom prst="rect">
            <a:avLst/>
          </a:prstGeom>
          <a:noFill/>
        </p:spPr>
        <p:txBody>
          <a:bodyPr wrap="square">
            <a:spAutoFit/>
          </a:bodyPr>
          <a:lstStyle/>
          <a:p>
            <a:pPr algn="l"/>
            <a:r>
              <a:rPr sz="1100" b="1" i="0">
                <a:solidFill>
                  <a:srgbClr val="F8FAFC"/>
                </a:solidFill>
              </a:rPr>
              <a:t>Docker Compose</a:t>
            </a:r>
          </a:p>
        </p:txBody>
      </p:sp>
      <p:sp>
        <p:nvSpPr>
          <p:cNvPr id="46" name="TextBox 45"/>
          <p:cNvSpPr txBox="1"/>
          <p:nvPr/>
        </p:nvSpPr>
        <p:spPr>
          <a:xfrm>
            <a:off x="4626864" y="4242816"/>
            <a:ext cx="3383280" cy="230832"/>
          </a:xfrm>
          <a:prstGeom prst="rect">
            <a:avLst/>
          </a:prstGeom>
          <a:noFill/>
        </p:spPr>
        <p:txBody>
          <a:bodyPr wrap="square">
            <a:spAutoFit/>
          </a:bodyPr>
          <a:lstStyle/>
          <a:p>
            <a:pPr algn="l"/>
            <a:r>
              <a:rPr sz="900" b="0" i="0" dirty="0">
                <a:solidFill>
                  <a:srgbClr val="94A3B8"/>
                </a:solidFill>
              </a:rPr>
              <a:t>PostgreSQL local </a:t>
            </a:r>
            <a:r>
              <a:rPr sz="900" b="0" i="0" dirty="0" err="1">
                <a:solidFill>
                  <a:srgbClr val="94A3B8"/>
                </a:solidFill>
              </a:rPr>
              <a:t>en</a:t>
            </a:r>
            <a:r>
              <a:rPr sz="900" b="0" i="0" dirty="0">
                <a:solidFill>
                  <a:srgbClr val="94A3B8"/>
                </a:solidFill>
              </a:rPr>
              <a:t> un docker compose </a:t>
            </a:r>
          </a:p>
        </p:txBody>
      </p:sp>
      <p:sp>
        <p:nvSpPr>
          <p:cNvPr id="47" name="TextBox 46"/>
          <p:cNvSpPr txBox="1"/>
          <p:nvPr/>
        </p:nvSpPr>
        <p:spPr>
          <a:xfrm>
            <a:off x="4626864" y="4453128"/>
            <a:ext cx="3383280" cy="237744"/>
          </a:xfrm>
          <a:prstGeom prst="rect">
            <a:avLst/>
          </a:prstGeom>
          <a:noFill/>
        </p:spPr>
        <p:txBody>
          <a:bodyPr wrap="square">
            <a:spAutoFit/>
          </a:bodyPr>
          <a:lstStyle/>
          <a:p>
            <a:pPr algn="l"/>
            <a:r>
              <a:rPr sz="1100" b="1" i="0">
                <a:solidFill>
                  <a:srgbClr val="F8FAFC"/>
                </a:solidFill>
              </a:rPr>
              <a:t>PowerShell</a:t>
            </a:r>
          </a:p>
        </p:txBody>
      </p:sp>
      <p:sp>
        <p:nvSpPr>
          <p:cNvPr id="48" name="TextBox 47"/>
          <p:cNvSpPr txBox="1"/>
          <p:nvPr/>
        </p:nvSpPr>
        <p:spPr>
          <a:xfrm>
            <a:off x="4626864" y="4672584"/>
            <a:ext cx="3383280" cy="201168"/>
          </a:xfrm>
          <a:prstGeom prst="rect">
            <a:avLst/>
          </a:prstGeom>
          <a:noFill/>
        </p:spPr>
        <p:txBody>
          <a:bodyPr wrap="square">
            <a:spAutoFit/>
          </a:bodyPr>
          <a:lstStyle/>
          <a:p>
            <a:pPr algn="l"/>
            <a:r>
              <a:rPr sz="900" b="0" i="0">
                <a:solidFill>
                  <a:srgbClr val="94A3B8"/>
                </a:solidFill>
              </a:rPr>
              <a:t>script run_pipeline.ps1 tout-en-un</a:t>
            </a:r>
          </a:p>
        </p:txBody>
      </p:sp>
      <p:sp>
        <p:nvSpPr>
          <p:cNvPr id="49" name="TextBox 48"/>
          <p:cNvSpPr txBox="1"/>
          <p:nvPr/>
        </p:nvSpPr>
        <p:spPr>
          <a:xfrm>
            <a:off x="4626864" y="4882896"/>
            <a:ext cx="3383280" cy="237744"/>
          </a:xfrm>
          <a:prstGeom prst="rect">
            <a:avLst/>
          </a:prstGeom>
          <a:noFill/>
        </p:spPr>
        <p:txBody>
          <a:bodyPr wrap="square">
            <a:spAutoFit/>
          </a:bodyPr>
          <a:lstStyle/>
          <a:p>
            <a:pPr algn="l"/>
            <a:r>
              <a:rPr sz="1100" b="1" i="0">
                <a:solidFill>
                  <a:srgbClr val="F8FAFC"/>
                </a:solidFill>
              </a:rPr>
              <a:t>Python 3.12</a:t>
            </a:r>
          </a:p>
        </p:txBody>
      </p:sp>
      <p:sp>
        <p:nvSpPr>
          <p:cNvPr id="50" name="TextBox 49"/>
          <p:cNvSpPr txBox="1"/>
          <p:nvPr/>
        </p:nvSpPr>
        <p:spPr>
          <a:xfrm>
            <a:off x="4626864" y="5102352"/>
            <a:ext cx="3383280" cy="201168"/>
          </a:xfrm>
          <a:prstGeom prst="rect">
            <a:avLst/>
          </a:prstGeom>
          <a:noFill/>
        </p:spPr>
        <p:txBody>
          <a:bodyPr wrap="square">
            <a:spAutoFit/>
          </a:bodyPr>
          <a:lstStyle/>
          <a:p>
            <a:pPr algn="l"/>
            <a:r>
              <a:rPr sz="900" b="0" i="0">
                <a:solidFill>
                  <a:srgbClr val="94A3B8"/>
                </a:solidFill>
              </a:rPr>
              <a:t>runtime principal du projet</a:t>
            </a:r>
          </a:p>
        </p:txBody>
      </p:sp>
      <p:sp>
        <p:nvSpPr>
          <p:cNvPr id="51" name="Rectangle 50"/>
          <p:cNvSpPr/>
          <p:nvPr/>
        </p:nvSpPr>
        <p:spPr>
          <a:xfrm>
            <a:off x="8467344" y="3520440"/>
            <a:ext cx="3657600" cy="1874519"/>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577072" y="3630168"/>
            <a:ext cx="1618488" cy="292608"/>
          </a:xfrm>
          <a:prstGeom prst="rect">
            <a:avLst/>
          </a:prstGeom>
          <a:solidFill>
            <a:srgbClr val="1E293B"/>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650224" y="3666744"/>
            <a:ext cx="1472184" cy="237744"/>
          </a:xfrm>
          <a:prstGeom prst="rect">
            <a:avLst/>
          </a:prstGeom>
          <a:noFill/>
        </p:spPr>
        <p:txBody>
          <a:bodyPr wrap="square">
            <a:spAutoFit/>
          </a:bodyPr>
          <a:lstStyle/>
          <a:p>
            <a:pPr algn="ctr"/>
            <a:r>
              <a:rPr sz="900" b="1" i="0">
                <a:solidFill>
                  <a:srgbClr val="EF4444"/>
                </a:solidFill>
              </a:rPr>
              <a:t>Config &amp; Qualité</a:t>
            </a:r>
          </a:p>
        </p:txBody>
      </p:sp>
      <p:sp>
        <p:nvSpPr>
          <p:cNvPr id="54" name="TextBox 53"/>
          <p:cNvSpPr txBox="1"/>
          <p:nvPr/>
        </p:nvSpPr>
        <p:spPr>
          <a:xfrm>
            <a:off x="8631936" y="4023360"/>
            <a:ext cx="3383280" cy="237744"/>
          </a:xfrm>
          <a:prstGeom prst="rect">
            <a:avLst/>
          </a:prstGeom>
          <a:noFill/>
        </p:spPr>
        <p:txBody>
          <a:bodyPr wrap="square">
            <a:spAutoFit/>
          </a:bodyPr>
          <a:lstStyle/>
          <a:p>
            <a:pPr algn="l"/>
            <a:r>
              <a:rPr sz="1100" b="1" i="0">
                <a:solidFill>
                  <a:srgbClr val="F8FAFC"/>
                </a:solidFill>
              </a:rPr>
              <a:t>Pydantic Settings</a:t>
            </a:r>
          </a:p>
        </p:txBody>
      </p:sp>
      <p:sp>
        <p:nvSpPr>
          <p:cNvPr id="55" name="TextBox 54"/>
          <p:cNvSpPr txBox="1"/>
          <p:nvPr/>
        </p:nvSpPr>
        <p:spPr>
          <a:xfrm>
            <a:off x="8631936" y="4242816"/>
            <a:ext cx="3383280" cy="201168"/>
          </a:xfrm>
          <a:prstGeom prst="rect">
            <a:avLst/>
          </a:prstGeom>
          <a:noFill/>
        </p:spPr>
        <p:txBody>
          <a:bodyPr wrap="square">
            <a:spAutoFit/>
          </a:bodyPr>
          <a:lstStyle/>
          <a:p>
            <a:pPr algn="l"/>
            <a:r>
              <a:rPr sz="900" b="0" i="0">
                <a:solidFill>
                  <a:srgbClr val="94A3B8"/>
                </a:solidFill>
              </a:rPr>
              <a:t>variables d'env typées &amp; validées</a:t>
            </a:r>
          </a:p>
        </p:txBody>
      </p:sp>
      <p:sp>
        <p:nvSpPr>
          <p:cNvPr id="56" name="TextBox 55"/>
          <p:cNvSpPr txBox="1"/>
          <p:nvPr/>
        </p:nvSpPr>
        <p:spPr>
          <a:xfrm>
            <a:off x="8631936" y="4453128"/>
            <a:ext cx="3383280" cy="237744"/>
          </a:xfrm>
          <a:prstGeom prst="rect">
            <a:avLst/>
          </a:prstGeom>
          <a:noFill/>
        </p:spPr>
        <p:txBody>
          <a:bodyPr wrap="square">
            <a:spAutoFit/>
          </a:bodyPr>
          <a:lstStyle/>
          <a:p>
            <a:pPr algn="l"/>
            <a:r>
              <a:rPr sz="1100" b="1" i="0">
                <a:solidFill>
                  <a:srgbClr val="F8FAFC"/>
                </a:solidFill>
              </a:rPr>
              <a:t>.env / .env.example</a:t>
            </a:r>
          </a:p>
        </p:txBody>
      </p:sp>
      <p:sp>
        <p:nvSpPr>
          <p:cNvPr id="57" name="TextBox 56"/>
          <p:cNvSpPr txBox="1"/>
          <p:nvPr/>
        </p:nvSpPr>
        <p:spPr>
          <a:xfrm>
            <a:off x="8631936" y="4672584"/>
            <a:ext cx="3383280" cy="201168"/>
          </a:xfrm>
          <a:prstGeom prst="rect">
            <a:avLst/>
          </a:prstGeom>
          <a:noFill/>
        </p:spPr>
        <p:txBody>
          <a:bodyPr wrap="square">
            <a:spAutoFit/>
          </a:bodyPr>
          <a:lstStyle/>
          <a:p>
            <a:pPr algn="l"/>
            <a:r>
              <a:rPr sz="900" b="0" i="0">
                <a:solidFill>
                  <a:srgbClr val="94A3B8"/>
                </a:solidFill>
              </a:rPr>
              <a:t>configuration externalisée</a:t>
            </a:r>
          </a:p>
        </p:txBody>
      </p:sp>
      <p:sp>
        <p:nvSpPr>
          <p:cNvPr id="58" name="TextBox 57"/>
          <p:cNvSpPr txBox="1"/>
          <p:nvPr/>
        </p:nvSpPr>
        <p:spPr>
          <a:xfrm>
            <a:off x="8631936" y="4882896"/>
            <a:ext cx="3383280" cy="237744"/>
          </a:xfrm>
          <a:prstGeom prst="rect">
            <a:avLst/>
          </a:prstGeom>
          <a:noFill/>
        </p:spPr>
        <p:txBody>
          <a:bodyPr wrap="square">
            <a:spAutoFit/>
          </a:bodyPr>
          <a:lstStyle/>
          <a:p>
            <a:pPr algn="l"/>
            <a:r>
              <a:rPr sz="1100" b="1" i="0">
                <a:solidFill>
                  <a:srgbClr val="F8FAFC"/>
                </a:solidFill>
              </a:rPr>
              <a:t>EDA notebook</a:t>
            </a:r>
          </a:p>
        </p:txBody>
      </p:sp>
      <p:sp>
        <p:nvSpPr>
          <p:cNvPr id="59" name="TextBox 58"/>
          <p:cNvSpPr txBox="1"/>
          <p:nvPr/>
        </p:nvSpPr>
        <p:spPr>
          <a:xfrm>
            <a:off x="8631936" y="5102352"/>
            <a:ext cx="3383280" cy="201168"/>
          </a:xfrm>
          <a:prstGeom prst="rect">
            <a:avLst/>
          </a:prstGeom>
          <a:noFill/>
        </p:spPr>
        <p:txBody>
          <a:bodyPr wrap="square">
            <a:spAutoFit/>
          </a:bodyPr>
          <a:lstStyle/>
          <a:p>
            <a:pPr algn="l"/>
            <a:r>
              <a:rPr sz="900" b="0" i="0">
                <a:solidFill>
                  <a:srgbClr val="94A3B8"/>
                </a:solidFill>
              </a:rPr>
              <a:t>contrôle qualité des données brutes</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228600"/>
            <a:ext cx="5486400" cy="307777"/>
          </a:xfrm>
          <a:prstGeom prst="rect">
            <a:avLst/>
          </a:prstGeom>
          <a:noFill/>
        </p:spPr>
        <p:txBody>
          <a:bodyPr wrap="square">
            <a:spAutoFit/>
          </a:bodyPr>
          <a:lstStyle/>
          <a:p>
            <a:pPr algn="l"/>
            <a:r>
              <a:rPr lang="en-US" sz="1400" b="1" i="0" dirty="0">
                <a:solidFill>
                  <a:srgbClr val="94A3B8"/>
                </a:solidFill>
              </a:rPr>
              <a:t>06 · RÉSULTATS</a:t>
            </a:r>
          </a:p>
        </p:txBody>
      </p:sp>
      <p:sp>
        <p:nvSpPr>
          <p:cNvPr id="3" name="TextBox 2"/>
          <p:cNvSpPr txBox="1"/>
          <p:nvPr/>
        </p:nvSpPr>
        <p:spPr>
          <a:xfrm>
            <a:off x="457200" y="533400"/>
            <a:ext cx="10972800" cy="571500"/>
          </a:xfrm>
          <a:prstGeom prst="rect">
            <a:avLst/>
          </a:prstGeom>
          <a:noFill/>
        </p:spPr>
        <p:txBody>
          <a:bodyPr wrap="square">
            <a:spAutoFit/>
          </a:bodyPr>
          <a:lstStyle/>
          <a:p>
            <a:pPr algn="l"/>
            <a:r>
              <a:rPr sz="2800" b="1" i="0" dirty="0">
                <a:solidFill>
                  <a:srgbClr val="F8FAFC"/>
                </a:solidFill>
              </a:rPr>
              <a:t>Le Dashboard — </a:t>
            </a:r>
            <a:r>
              <a:rPr sz="2800" b="1" i="0" dirty="0" err="1">
                <a:solidFill>
                  <a:srgbClr val="F8FAFC"/>
                </a:solidFill>
              </a:rPr>
              <a:t>fonctionnalités</a:t>
            </a:r>
            <a:endParaRPr sz="2800" b="1" i="0" dirty="0">
              <a:solidFill>
                <a:srgbClr val="F8FAFC"/>
              </a:solidFill>
            </a:endParaRPr>
          </a:p>
        </p:txBody>
      </p:sp>
      <p:pic>
        <p:nvPicPr>
          <p:cNvPr id="65" name="Image 64">
            <a:extLst>
              <a:ext uri="{FF2B5EF4-FFF2-40B4-BE49-F238E27FC236}">
                <a16:creationId xmlns:a16="http://schemas.microsoft.com/office/drawing/2014/main" id="{B63E50B1-77E0-4A53-775E-AF377F0F6659}"/>
              </a:ext>
            </a:extLst>
          </p:cNvPr>
          <p:cNvPicPr>
            <a:picLocks noChangeAspect="1"/>
          </p:cNvPicPr>
          <p:nvPr/>
        </p:nvPicPr>
        <p:blipFill>
          <a:blip r:embed="rId2"/>
          <a:stretch>
            <a:fillRect/>
          </a:stretch>
        </p:blipFill>
        <p:spPr>
          <a:xfrm>
            <a:off x="1" y="1333500"/>
            <a:ext cx="6282812" cy="5067300"/>
          </a:xfrm>
          <a:prstGeom prst="roundRect">
            <a:avLst>
              <a:gd name="adj" fmla="val 5000"/>
            </a:avLst>
          </a:prstGeom>
        </p:spPr>
      </p:pic>
      <p:pic>
        <p:nvPicPr>
          <p:cNvPr id="67" name="Image 66">
            <a:extLst>
              <a:ext uri="{FF2B5EF4-FFF2-40B4-BE49-F238E27FC236}">
                <a16:creationId xmlns:a16="http://schemas.microsoft.com/office/drawing/2014/main" id="{CE24B136-C7EA-E59D-657D-941BA9F80635}"/>
              </a:ext>
            </a:extLst>
          </p:cNvPr>
          <p:cNvPicPr>
            <a:picLocks noChangeAspect="1"/>
          </p:cNvPicPr>
          <p:nvPr/>
        </p:nvPicPr>
        <p:blipFill>
          <a:blip r:embed="rId3"/>
          <a:srcRect l="3063" r="8446"/>
          <a:stretch>
            <a:fillRect/>
          </a:stretch>
        </p:blipFill>
        <p:spPr>
          <a:xfrm>
            <a:off x="6203949" y="1333500"/>
            <a:ext cx="5984875" cy="5067300"/>
          </a:xfrm>
          <a:prstGeom prst="roundRect">
            <a:avLst>
              <a:gd name="adj" fmla="val 5000"/>
            </a:avLst>
          </a:prstGeom>
        </p:spPr>
      </p:pic>
    </p:spTree>
    <p:extLst>
      <p:ext uri="{BB962C8B-B14F-4D97-AF65-F5344CB8AC3E}">
        <p14:creationId xmlns:p14="http://schemas.microsoft.com/office/powerpoint/2010/main" val="17473432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5486400" cy="274320"/>
          </a:xfrm>
          <a:prstGeom prst="rect">
            <a:avLst/>
          </a:prstGeom>
          <a:noFill/>
        </p:spPr>
        <p:txBody>
          <a:bodyPr wrap="square">
            <a:spAutoFit/>
          </a:bodyPr>
          <a:lstStyle/>
          <a:p>
            <a:pPr algn="l"/>
            <a:r>
              <a:rPr sz="900" b="1" i="0">
                <a:solidFill>
                  <a:srgbClr val="94A3B8"/>
                </a:solidFill>
              </a:rPr>
              <a:t>07 · CONCLUSION</a:t>
            </a:r>
          </a:p>
        </p:txBody>
      </p:sp>
      <p:sp>
        <p:nvSpPr>
          <p:cNvPr id="3" name="TextBox 2"/>
          <p:cNvSpPr txBox="1"/>
          <p:nvPr/>
        </p:nvSpPr>
        <p:spPr>
          <a:xfrm>
            <a:off x="457200" y="548640"/>
            <a:ext cx="9144000" cy="594360"/>
          </a:xfrm>
          <a:prstGeom prst="rect">
            <a:avLst/>
          </a:prstGeom>
          <a:noFill/>
        </p:spPr>
        <p:txBody>
          <a:bodyPr wrap="square">
            <a:spAutoFit/>
          </a:bodyPr>
          <a:lstStyle/>
          <a:p>
            <a:pPr algn="l"/>
            <a:r>
              <a:rPr sz="2800" b="1" i="0">
                <a:solidFill>
                  <a:srgbClr val="F8FAFC"/>
                </a:solidFill>
              </a:rPr>
              <a:t>Bilan &amp; Perspectives</a:t>
            </a:r>
          </a:p>
        </p:txBody>
      </p:sp>
      <p:sp>
        <p:nvSpPr>
          <p:cNvPr id="4" name="Rectangle 3"/>
          <p:cNvSpPr/>
          <p:nvPr/>
        </p:nvSpPr>
        <p:spPr>
          <a:xfrm>
            <a:off x="457200" y="1207008"/>
            <a:ext cx="30175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58952" y="1207008"/>
            <a:ext cx="246888"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486400" cy="347472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36192"/>
            <a:ext cx="5212080" cy="292388"/>
          </a:xfrm>
          <a:prstGeom prst="rect">
            <a:avLst/>
          </a:prstGeom>
          <a:noFill/>
        </p:spPr>
        <p:txBody>
          <a:bodyPr wrap="square">
            <a:spAutoFit/>
          </a:bodyPr>
          <a:lstStyle/>
          <a:p>
            <a:pPr algn="l"/>
            <a:r>
              <a:rPr sz="1300" b="1" i="0" dirty="0">
                <a:solidFill>
                  <a:srgbClr val="22C55E"/>
                </a:solidFill>
              </a:rPr>
              <a:t>  Ce qui a </a:t>
            </a:r>
            <a:r>
              <a:rPr sz="1300" b="1" i="0" dirty="0" err="1">
                <a:solidFill>
                  <a:srgbClr val="22C55E"/>
                </a:solidFill>
              </a:rPr>
              <a:t>été</a:t>
            </a:r>
            <a:r>
              <a:rPr sz="1300" b="1" i="0" dirty="0">
                <a:solidFill>
                  <a:srgbClr val="22C55E"/>
                </a:solidFill>
              </a:rPr>
              <a:t> </a:t>
            </a:r>
            <a:r>
              <a:rPr sz="1300" b="1" i="0" dirty="0" err="1">
                <a:solidFill>
                  <a:srgbClr val="22C55E"/>
                </a:solidFill>
              </a:rPr>
              <a:t>réalisé</a:t>
            </a:r>
            <a:endParaRPr sz="1300" b="1" i="0" dirty="0">
              <a:solidFill>
                <a:srgbClr val="22C55E"/>
              </a:solidFill>
            </a:endParaRPr>
          </a:p>
        </p:txBody>
      </p:sp>
      <p:sp>
        <p:nvSpPr>
          <p:cNvPr id="8" name="TextBox 7"/>
          <p:cNvSpPr txBox="1"/>
          <p:nvPr/>
        </p:nvSpPr>
        <p:spPr>
          <a:xfrm>
            <a:off x="594360" y="1965960"/>
            <a:ext cx="5166360" cy="347472"/>
          </a:xfrm>
          <a:prstGeom prst="rect">
            <a:avLst/>
          </a:prstGeom>
          <a:noFill/>
        </p:spPr>
        <p:txBody>
          <a:bodyPr wrap="square">
            <a:spAutoFit/>
          </a:bodyPr>
          <a:lstStyle/>
          <a:p>
            <a:pPr algn="l"/>
            <a:r>
              <a:rPr sz="1050" b="0" i="0">
                <a:solidFill>
                  <a:srgbClr val="94A3B8"/>
                </a:solidFill>
              </a:rPr>
              <a:t>✔  Pipeline complet en 6 étapes automatisées</a:t>
            </a:r>
          </a:p>
        </p:txBody>
      </p:sp>
      <p:sp>
        <p:nvSpPr>
          <p:cNvPr id="9" name="TextBox 8"/>
          <p:cNvSpPr txBox="1"/>
          <p:nvPr/>
        </p:nvSpPr>
        <p:spPr>
          <a:xfrm>
            <a:off x="594360" y="2377440"/>
            <a:ext cx="5166360" cy="347472"/>
          </a:xfrm>
          <a:prstGeom prst="rect">
            <a:avLst/>
          </a:prstGeom>
          <a:noFill/>
        </p:spPr>
        <p:txBody>
          <a:bodyPr wrap="square">
            <a:spAutoFit/>
          </a:bodyPr>
          <a:lstStyle/>
          <a:p>
            <a:pPr algn="l"/>
            <a:r>
              <a:rPr sz="1050" b="0" i="0">
                <a:solidFill>
                  <a:srgbClr val="94A3B8"/>
                </a:solidFill>
              </a:rPr>
              <a:t>✔  Croisement de 2 sources hétérogènes (API + scraping)</a:t>
            </a:r>
          </a:p>
        </p:txBody>
      </p:sp>
      <p:sp>
        <p:nvSpPr>
          <p:cNvPr id="10" name="TextBox 9"/>
          <p:cNvSpPr txBox="1"/>
          <p:nvPr/>
        </p:nvSpPr>
        <p:spPr>
          <a:xfrm>
            <a:off x="594360" y="2788920"/>
            <a:ext cx="5166360" cy="347472"/>
          </a:xfrm>
          <a:prstGeom prst="rect">
            <a:avLst/>
          </a:prstGeom>
          <a:noFill/>
        </p:spPr>
        <p:txBody>
          <a:bodyPr wrap="square">
            <a:spAutoFit/>
          </a:bodyPr>
          <a:lstStyle/>
          <a:p>
            <a:pPr algn="l"/>
            <a:r>
              <a:rPr sz="1050" b="0" i="0">
                <a:solidFill>
                  <a:srgbClr val="94A3B8"/>
                </a:solidFill>
              </a:rPr>
              <a:t>✔  Traitement distribué avec PySpark</a:t>
            </a:r>
          </a:p>
        </p:txBody>
      </p:sp>
      <p:sp>
        <p:nvSpPr>
          <p:cNvPr id="11" name="TextBox 10"/>
          <p:cNvSpPr txBox="1"/>
          <p:nvPr/>
        </p:nvSpPr>
        <p:spPr>
          <a:xfrm>
            <a:off x="594360" y="3200400"/>
            <a:ext cx="5166360" cy="347472"/>
          </a:xfrm>
          <a:prstGeom prst="rect">
            <a:avLst/>
          </a:prstGeom>
          <a:noFill/>
        </p:spPr>
        <p:txBody>
          <a:bodyPr wrap="square">
            <a:spAutoFit/>
          </a:bodyPr>
          <a:lstStyle/>
          <a:p>
            <a:pPr algn="l"/>
            <a:r>
              <a:rPr sz="1050" b="0" i="0">
                <a:solidFill>
                  <a:srgbClr val="94A3B8"/>
                </a:solidFill>
              </a:rPr>
              <a:t>✔  Stockage structuré PostgreSQL + Docker</a:t>
            </a:r>
          </a:p>
        </p:txBody>
      </p:sp>
      <p:sp>
        <p:nvSpPr>
          <p:cNvPr id="12" name="TextBox 11"/>
          <p:cNvSpPr txBox="1"/>
          <p:nvPr/>
        </p:nvSpPr>
        <p:spPr>
          <a:xfrm>
            <a:off x="594360" y="3611880"/>
            <a:ext cx="5166360" cy="347472"/>
          </a:xfrm>
          <a:prstGeom prst="rect">
            <a:avLst/>
          </a:prstGeom>
          <a:noFill/>
        </p:spPr>
        <p:txBody>
          <a:bodyPr wrap="square">
            <a:spAutoFit/>
          </a:bodyPr>
          <a:lstStyle/>
          <a:p>
            <a:pPr algn="l"/>
            <a:r>
              <a:rPr sz="1050" b="0" i="0">
                <a:solidFill>
                  <a:srgbClr val="94A3B8"/>
                </a:solidFill>
              </a:rPr>
              <a:t>✔  Dashboard Streamlit interactif avec Plotly</a:t>
            </a:r>
          </a:p>
        </p:txBody>
      </p:sp>
      <p:sp>
        <p:nvSpPr>
          <p:cNvPr id="13" name="TextBox 12"/>
          <p:cNvSpPr txBox="1"/>
          <p:nvPr/>
        </p:nvSpPr>
        <p:spPr>
          <a:xfrm>
            <a:off x="594360" y="4023360"/>
            <a:ext cx="5166360" cy="347472"/>
          </a:xfrm>
          <a:prstGeom prst="rect">
            <a:avLst/>
          </a:prstGeom>
          <a:noFill/>
        </p:spPr>
        <p:txBody>
          <a:bodyPr wrap="square">
            <a:spAutoFit/>
          </a:bodyPr>
          <a:lstStyle/>
          <a:p>
            <a:pPr algn="l"/>
            <a:r>
              <a:rPr sz="1050" b="0" i="0">
                <a:solidFill>
                  <a:srgbClr val="94A3B8"/>
                </a:solidFill>
              </a:rPr>
              <a:t>✔  Résilience : fallback Parquet si base indisponible</a:t>
            </a:r>
          </a:p>
        </p:txBody>
      </p:sp>
      <p:sp>
        <p:nvSpPr>
          <p:cNvPr id="14" name="TextBox 13"/>
          <p:cNvSpPr txBox="1"/>
          <p:nvPr/>
        </p:nvSpPr>
        <p:spPr>
          <a:xfrm>
            <a:off x="594360" y="4434840"/>
            <a:ext cx="5166360" cy="347472"/>
          </a:xfrm>
          <a:prstGeom prst="rect">
            <a:avLst/>
          </a:prstGeom>
          <a:noFill/>
        </p:spPr>
        <p:txBody>
          <a:bodyPr wrap="square">
            <a:spAutoFit/>
          </a:bodyPr>
          <a:lstStyle/>
          <a:p>
            <a:pPr algn="l"/>
            <a:r>
              <a:rPr sz="1050" b="0" i="0">
                <a:solidFill>
                  <a:srgbClr val="94A3B8"/>
                </a:solidFill>
              </a:rPr>
              <a:t>✔  Configuration externalisée via .env</a:t>
            </a:r>
          </a:p>
        </p:txBody>
      </p:sp>
      <p:sp>
        <p:nvSpPr>
          <p:cNvPr id="15" name="Rectangle 14"/>
          <p:cNvSpPr/>
          <p:nvPr/>
        </p:nvSpPr>
        <p:spPr>
          <a:xfrm>
            <a:off x="6217920" y="1417320"/>
            <a:ext cx="5532120" cy="347472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536192"/>
            <a:ext cx="5212080" cy="292388"/>
          </a:xfrm>
          <a:prstGeom prst="rect">
            <a:avLst/>
          </a:prstGeom>
          <a:noFill/>
        </p:spPr>
        <p:txBody>
          <a:bodyPr wrap="square">
            <a:spAutoFit/>
          </a:bodyPr>
          <a:lstStyle/>
          <a:p>
            <a:pPr algn="l"/>
            <a:r>
              <a:rPr sz="1300" b="1" i="0" dirty="0">
                <a:solidFill>
                  <a:srgbClr val="38BDF8"/>
                </a:solidFill>
              </a:rPr>
              <a:t>  Axes </a:t>
            </a:r>
            <a:r>
              <a:rPr sz="1300" b="1" i="0" dirty="0" err="1">
                <a:solidFill>
                  <a:srgbClr val="38BDF8"/>
                </a:solidFill>
              </a:rPr>
              <a:t>d'amélioration</a:t>
            </a:r>
            <a:endParaRPr sz="1300" b="1" i="0" dirty="0">
              <a:solidFill>
                <a:srgbClr val="38BDF8"/>
              </a:solidFill>
            </a:endParaRPr>
          </a:p>
        </p:txBody>
      </p:sp>
      <p:sp>
        <p:nvSpPr>
          <p:cNvPr id="17" name="TextBox 16"/>
          <p:cNvSpPr txBox="1"/>
          <p:nvPr/>
        </p:nvSpPr>
        <p:spPr>
          <a:xfrm>
            <a:off x="6355080" y="1965960"/>
            <a:ext cx="5257800" cy="384048"/>
          </a:xfrm>
          <a:prstGeom prst="rect">
            <a:avLst/>
          </a:prstGeom>
          <a:noFill/>
        </p:spPr>
        <p:txBody>
          <a:bodyPr wrap="square">
            <a:spAutoFit/>
          </a:bodyPr>
          <a:lstStyle/>
          <a:p>
            <a:pPr algn="l"/>
            <a:r>
              <a:rPr sz="1050" b="0" i="0">
                <a:solidFill>
                  <a:srgbClr val="94A3B8"/>
                </a:solidFill>
              </a:rPr>
              <a:t>▸  Collecte continue — scheduler (Airflow / cron) toutes les 15 min</a:t>
            </a:r>
          </a:p>
        </p:txBody>
      </p:sp>
      <p:sp>
        <p:nvSpPr>
          <p:cNvPr id="18" name="TextBox 17"/>
          <p:cNvSpPr txBox="1"/>
          <p:nvPr/>
        </p:nvSpPr>
        <p:spPr>
          <a:xfrm>
            <a:off x="6355080" y="2441448"/>
            <a:ext cx="5257800" cy="384048"/>
          </a:xfrm>
          <a:prstGeom prst="rect">
            <a:avLst/>
          </a:prstGeom>
          <a:noFill/>
        </p:spPr>
        <p:txBody>
          <a:bodyPr wrap="square">
            <a:spAutoFit/>
          </a:bodyPr>
          <a:lstStyle/>
          <a:p>
            <a:pPr algn="l"/>
            <a:r>
              <a:rPr sz="1050" b="0" i="0">
                <a:solidFill>
                  <a:srgbClr val="94A3B8"/>
                </a:solidFill>
              </a:rPr>
              <a:t>▸  Historisation — analyse temporelle &amp; tendances d'usage</a:t>
            </a:r>
          </a:p>
        </p:txBody>
      </p:sp>
      <p:sp>
        <p:nvSpPr>
          <p:cNvPr id="19" name="TextBox 18"/>
          <p:cNvSpPr txBox="1"/>
          <p:nvPr/>
        </p:nvSpPr>
        <p:spPr>
          <a:xfrm>
            <a:off x="6355080" y="2916936"/>
            <a:ext cx="5257800" cy="384048"/>
          </a:xfrm>
          <a:prstGeom prst="rect">
            <a:avLst/>
          </a:prstGeom>
          <a:noFill/>
        </p:spPr>
        <p:txBody>
          <a:bodyPr wrap="square">
            <a:spAutoFit/>
          </a:bodyPr>
          <a:lstStyle/>
          <a:p>
            <a:pPr algn="l"/>
            <a:r>
              <a:rPr sz="1050" b="0" i="0">
                <a:solidFill>
                  <a:srgbClr val="94A3B8"/>
                </a:solidFill>
              </a:rPr>
              <a:t>▸  API météo officielle — OpenMeteo (gratuite &amp; stable)</a:t>
            </a:r>
          </a:p>
        </p:txBody>
      </p:sp>
      <p:sp>
        <p:nvSpPr>
          <p:cNvPr id="20" name="TextBox 19"/>
          <p:cNvSpPr txBox="1"/>
          <p:nvPr/>
        </p:nvSpPr>
        <p:spPr>
          <a:xfrm>
            <a:off x="6355080" y="3392424"/>
            <a:ext cx="5257800" cy="384048"/>
          </a:xfrm>
          <a:prstGeom prst="rect">
            <a:avLst/>
          </a:prstGeom>
          <a:noFill/>
        </p:spPr>
        <p:txBody>
          <a:bodyPr wrap="square">
            <a:spAutoFit/>
          </a:bodyPr>
          <a:lstStyle/>
          <a:p>
            <a:pPr algn="l"/>
            <a:r>
              <a:rPr sz="1050" b="0" i="0">
                <a:solidFill>
                  <a:srgbClr val="94A3B8"/>
                </a:solidFill>
              </a:rPr>
              <a:t>▸  Machine Learning — prédiction de disponibilité des stations</a:t>
            </a:r>
          </a:p>
        </p:txBody>
      </p:sp>
      <p:sp>
        <p:nvSpPr>
          <p:cNvPr id="21" name="TextBox 20"/>
          <p:cNvSpPr txBox="1"/>
          <p:nvPr/>
        </p:nvSpPr>
        <p:spPr>
          <a:xfrm>
            <a:off x="6355080" y="3867912"/>
            <a:ext cx="5257800" cy="384048"/>
          </a:xfrm>
          <a:prstGeom prst="rect">
            <a:avLst/>
          </a:prstGeom>
          <a:noFill/>
        </p:spPr>
        <p:txBody>
          <a:bodyPr wrap="square">
            <a:spAutoFit/>
          </a:bodyPr>
          <a:lstStyle/>
          <a:p>
            <a:pPr algn="l"/>
            <a:r>
              <a:rPr sz="1050" b="0" i="0">
                <a:solidFill>
                  <a:srgbClr val="94A3B8"/>
                </a:solidFill>
              </a:rPr>
              <a:t>▸  Déploiement cloud — Streamlit Cloud ou Docker Swarm</a:t>
            </a:r>
          </a:p>
        </p:txBody>
      </p:sp>
      <p:sp>
        <p:nvSpPr>
          <p:cNvPr id="22" name="TextBox 21"/>
          <p:cNvSpPr txBox="1"/>
          <p:nvPr/>
        </p:nvSpPr>
        <p:spPr>
          <a:xfrm>
            <a:off x="6355080" y="4343400"/>
            <a:ext cx="5257800" cy="384048"/>
          </a:xfrm>
          <a:prstGeom prst="rect">
            <a:avLst/>
          </a:prstGeom>
          <a:noFill/>
        </p:spPr>
        <p:txBody>
          <a:bodyPr wrap="square">
            <a:spAutoFit/>
          </a:bodyPr>
          <a:lstStyle/>
          <a:p>
            <a:pPr algn="l"/>
            <a:r>
              <a:rPr sz="1050" b="0" i="0">
                <a:solidFill>
                  <a:srgbClr val="94A3B8"/>
                </a:solidFill>
              </a:rPr>
              <a:t>▸  Alertes — notification si station vide / hors service</a:t>
            </a:r>
          </a:p>
        </p:txBody>
      </p:sp>
      <p:sp>
        <p:nvSpPr>
          <p:cNvPr id="23" name="Rectangle 22"/>
          <p:cNvSpPr/>
          <p:nvPr/>
        </p:nvSpPr>
        <p:spPr>
          <a:xfrm>
            <a:off x="457200" y="5074920"/>
            <a:ext cx="11292840" cy="1325880"/>
          </a:xfrm>
          <a:prstGeom prst="rect">
            <a:avLst/>
          </a:prstGeom>
          <a:solidFill>
            <a:srgbClr val="0F172A"/>
          </a:solidFill>
          <a:ln w="9525">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166360"/>
            <a:ext cx="10789920" cy="548640"/>
          </a:xfrm>
          <a:prstGeom prst="rect">
            <a:avLst/>
          </a:prstGeom>
          <a:noFill/>
        </p:spPr>
        <p:txBody>
          <a:bodyPr wrap="square">
            <a:spAutoFit/>
          </a:bodyPr>
          <a:lstStyle/>
          <a:p>
            <a:pPr algn="ctr"/>
            <a:r>
              <a:rPr sz="1200" b="0" i="0">
                <a:solidFill>
                  <a:srgbClr val="94A3B8"/>
                </a:solidFill>
              </a:rPr>
              <a:t>Ce projet démontre qu'avec des outils open source (Spark, PostgreSQL, Streamlit), il est possible de construire un pipeline Big Data complet et fonctionnel autour de données urbaines réelles, en un temps réduit.</a:t>
            </a:r>
          </a:p>
        </p:txBody>
      </p:sp>
      <p:sp>
        <p:nvSpPr>
          <p:cNvPr id="25" name="Rectangle 24"/>
          <p:cNvSpPr/>
          <p:nvPr/>
        </p:nvSpPr>
        <p:spPr>
          <a:xfrm>
            <a:off x="2560320" y="5852160"/>
            <a:ext cx="2052828" cy="292608"/>
          </a:xfrm>
          <a:prstGeom prst="rect">
            <a:avLst/>
          </a:prstGeom>
          <a:solidFill>
            <a:srgbClr val="1E293B"/>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33472" y="5888736"/>
            <a:ext cx="1906524" cy="237744"/>
          </a:xfrm>
          <a:prstGeom prst="rect">
            <a:avLst/>
          </a:prstGeom>
          <a:noFill/>
        </p:spPr>
        <p:txBody>
          <a:bodyPr wrap="square">
            <a:spAutoFit/>
          </a:bodyPr>
          <a:lstStyle/>
          <a:p>
            <a:pPr algn="ctr"/>
            <a:r>
              <a:rPr sz="900" b="1" i="0">
                <a:solidFill>
                  <a:srgbClr val="22C55E"/>
                </a:solidFill>
              </a:rPr>
              <a:t>Pipeline opérationnel</a:t>
            </a:r>
          </a:p>
        </p:txBody>
      </p:sp>
      <p:sp>
        <p:nvSpPr>
          <p:cNvPr id="27" name="Rectangle 26"/>
          <p:cNvSpPr/>
          <p:nvPr/>
        </p:nvSpPr>
        <p:spPr>
          <a:xfrm>
            <a:off x="4704588" y="5852160"/>
            <a:ext cx="1444752" cy="292608"/>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77740" y="5888736"/>
            <a:ext cx="1298448" cy="237744"/>
          </a:xfrm>
          <a:prstGeom prst="rect">
            <a:avLst/>
          </a:prstGeom>
          <a:noFill/>
        </p:spPr>
        <p:txBody>
          <a:bodyPr wrap="square">
            <a:spAutoFit/>
          </a:bodyPr>
          <a:lstStyle/>
          <a:p>
            <a:pPr algn="ctr"/>
            <a:r>
              <a:rPr sz="900" b="1" i="0">
                <a:solidFill>
                  <a:srgbClr val="38BDF8"/>
                </a:solidFill>
              </a:rPr>
              <a:t>Open Data STAR</a:t>
            </a:r>
          </a:p>
        </p:txBody>
      </p:sp>
      <p:sp>
        <p:nvSpPr>
          <p:cNvPr id="29" name="Rectangle 28"/>
          <p:cNvSpPr/>
          <p:nvPr/>
        </p:nvSpPr>
        <p:spPr>
          <a:xfrm>
            <a:off x="6240779" y="5852160"/>
            <a:ext cx="1357884" cy="292608"/>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13931" y="5888736"/>
            <a:ext cx="1211580" cy="237744"/>
          </a:xfrm>
          <a:prstGeom prst="rect">
            <a:avLst/>
          </a:prstGeom>
          <a:noFill/>
        </p:spPr>
        <p:txBody>
          <a:bodyPr wrap="square">
            <a:spAutoFit/>
          </a:bodyPr>
          <a:lstStyle/>
          <a:p>
            <a:pPr algn="ctr"/>
            <a:r>
              <a:rPr sz="900" b="1" i="0">
                <a:solidFill>
                  <a:srgbClr val="F59E0B"/>
                </a:solidFill>
              </a:rPr>
              <a:t>Reproductible</a:t>
            </a:r>
          </a:p>
        </p:txBody>
      </p:sp>
      <p:sp>
        <p:nvSpPr>
          <p:cNvPr id="31" name="Rectangle 30"/>
          <p:cNvSpPr/>
          <p:nvPr/>
        </p:nvSpPr>
        <p:spPr>
          <a:xfrm>
            <a:off x="7690104" y="5852160"/>
            <a:ext cx="1097280" cy="292608"/>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63256" y="5888736"/>
            <a:ext cx="950976" cy="237744"/>
          </a:xfrm>
          <a:prstGeom prst="rect">
            <a:avLst/>
          </a:prstGeom>
          <a:noFill/>
        </p:spPr>
        <p:txBody>
          <a:bodyPr wrap="square">
            <a:spAutoFit/>
          </a:bodyPr>
          <a:lstStyle/>
          <a:p>
            <a:pPr algn="ctr"/>
            <a:r>
              <a:rPr sz="900" b="1" i="0">
                <a:solidFill>
                  <a:srgbClr val="A78BFA"/>
                </a:solidFill>
              </a:rPr>
              <a:t>Extensible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5B3132-73C9-47E7-83BA-DD79D0ACED7D}">
  <we:reference id="wa200010001" version="1.0.0.1" store="en-US" storeType="OMEX"/>
  <we:alternateReferences>
    <we:reference id="WA200010001" version="1.0.0.1" store="" storeType="OMEX"/>
  </we:alternateReferences>
  <we:properties>
    <we:property name="claude.fileId" value="&quot;76c1bf20-4ddf-4226-9324-f71b3f0e832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100</TotalTime>
  <Words>1036</Words>
  <Application>Microsoft Office PowerPoint</Application>
  <PresentationFormat>Personnalisé</PresentationFormat>
  <Paragraphs>199</Paragraphs>
  <Slides>9</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LEMESLE Antoine</cp:lastModifiedBy>
  <cp:revision>8</cp:revision>
  <dcterms:created xsi:type="dcterms:W3CDTF">2013-01-27T09:14:16Z</dcterms:created>
  <dcterms:modified xsi:type="dcterms:W3CDTF">2026-04-03T11:36:05Z</dcterms:modified>
  <cp:category/>
</cp:coreProperties>
</file>